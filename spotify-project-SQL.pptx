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 Bold" charset="1" panose="00000000000000000000"/>
      <p:regular r:id="rId18"/>
    </p:embeddedFont>
    <p:embeddedFont>
      <p:font typeface="Open Sans" charset="1" panose="00000000000000000000"/>
      <p:regular r:id="rId19"/>
    </p:embeddedFont>
    <p:embeddedFont>
      <p:font typeface="Arial Bold" charset="1" panose="020B0704020202020204"/>
      <p:regular r:id="rId20"/>
    </p:embeddedFont>
    <p:embeddedFont>
      <p:font typeface="Roboto Bold" charset="1" panose="02000000000000000000"/>
      <p:regular r:id="rId21"/>
    </p:embeddedFont>
    <p:embeddedFont>
      <p:font typeface="Arial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 At the back of the logo there’s a loading gif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 At the back of the logo there’s a loading gif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 At the back of the logo there’s a loading gif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https://github.com/najirh/najirh-Spotify-Data-Analysis-using-SQL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9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03361" y="7108621"/>
            <a:ext cx="6559599" cy="6161330"/>
            <a:chOff x="0" y="0"/>
            <a:chExt cx="11412188" cy="10719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12220" cy="10719308"/>
            </a:xfrm>
            <a:custGeom>
              <a:avLst/>
              <a:gdLst/>
              <a:ahLst/>
              <a:cxnLst/>
              <a:rect r="r" b="b" t="t" l="l"/>
              <a:pathLst>
                <a:path h="10719308" w="11412220">
                  <a:moveTo>
                    <a:pt x="0" y="5359654"/>
                  </a:moveTo>
                  <a:cubicBezTo>
                    <a:pt x="0" y="2399538"/>
                    <a:pt x="2554732" y="0"/>
                    <a:pt x="5706110" y="0"/>
                  </a:cubicBezTo>
                  <a:cubicBezTo>
                    <a:pt x="8857488" y="0"/>
                    <a:pt x="11412220" y="2399538"/>
                    <a:pt x="11412220" y="5359654"/>
                  </a:cubicBezTo>
                  <a:cubicBezTo>
                    <a:pt x="11412220" y="8319770"/>
                    <a:pt x="8857488" y="10719308"/>
                    <a:pt x="5706110" y="10719308"/>
                  </a:cubicBezTo>
                  <a:cubicBezTo>
                    <a:pt x="2554732" y="10719308"/>
                    <a:pt x="0" y="8319643"/>
                    <a:pt x="0" y="5359654"/>
                  </a:cubicBezTo>
                  <a:close/>
                  <a:moveTo>
                    <a:pt x="2056638" y="5359654"/>
                  </a:moveTo>
                  <a:cubicBezTo>
                    <a:pt x="2056638" y="7183882"/>
                    <a:pt x="3690620" y="8662670"/>
                    <a:pt x="5706110" y="8662670"/>
                  </a:cubicBezTo>
                  <a:cubicBezTo>
                    <a:pt x="7721600" y="8662670"/>
                    <a:pt x="9355582" y="7183882"/>
                    <a:pt x="9355582" y="5359654"/>
                  </a:cubicBezTo>
                  <a:cubicBezTo>
                    <a:pt x="9355582" y="3535426"/>
                    <a:pt x="7721600" y="2056638"/>
                    <a:pt x="5706110" y="2056638"/>
                  </a:cubicBezTo>
                  <a:cubicBezTo>
                    <a:pt x="3690620" y="2056638"/>
                    <a:pt x="2056638" y="3535426"/>
                    <a:pt x="2056638" y="5359654"/>
                  </a:cubicBezTo>
                  <a:close/>
                </a:path>
              </a:pathLst>
            </a:custGeom>
            <a:solidFill>
              <a:srgbClr val="1ED7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856" y="-1985032"/>
            <a:ext cx="4543326" cy="4444131"/>
            <a:chOff x="0" y="0"/>
            <a:chExt cx="6057768" cy="59255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57773" cy="5925566"/>
            </a:xfrm>
            <a:custGeom>
              <a:avLst/>
              <a:gdLst/>
              <a:ahLst/>
              <a:cxnLst/>
              <a:rect r="r" b="b" t="t" l="l"/>
              <a:pathLst>
                <a:path h="5925566" w="6057773">
                  <a:moveTo>
                    <a:pt x="0" y="2962783"/>
                  </a:moveTo>
                  <a:cubicBezTo>
                    <a:pt x="0" y="1326515"/>
                    <a:pt x="1356106" y="0"/>
                    <a:pt x="3028823" y="0"/>
                  </a:cubicBezTo>
                  <a:cubicBezTo>
                    <a:pt x="4701540" y="0"/>
                    <a:pt x="6057773" y="1326515"/>
                    <a:pt x="6057773" y="2962783"/>
                  </a:cubicBezTo>
                  <a:cubicBezTo>
                    <a:pt x="6057773" y="4599051"/>
                    <a:pt x="4701667" y="5925566"/>
                    <a:pt x="3028823" y="5925566"/>
                  </a:cubicBezTo>
                  <a:cubicBezTo>
                    <a:pt x="1355979" y="5925566"/>
                    <a:pt x="0" y="4599051"/>
                    <a:pt x="0" y="2962783"/>
                  </a:cubicBezTo>
                  <a:close/>
                  <a:moveTo>
                    <a:pt x="1323086" y="2962783"/>
                  </a:moveTo>
                  <a:cubicBezTo>
                    <a:pt x="1323086" y="3868420"/>
                    <a:pt x="2086864" y="4602480"/>
                    <a:pt x="3028950" y="4602480"/>
                  </a:cubicBezTo>
                  <a:cubicBezTo>
                    <a:pt x="3971036" y="4602480"/>
                    <a:pt x="4734814" y="3868420"/>
                    <a:pt x="4734814" y="2962783"/>
                  </a:cubicBezTo>
                  <a:cubicBezTo>
                    <a:pt x="4734814" y="2057146"/>
                    <a:pt x="3971036" y="1323086"/>
                    <a:pt x="3028950" y="1323086"/>
                  </a:cubicBezTo>
                  <a:cubicBezTo>
                    <a:pt x="2086864" y="1323086"/>
                    <a:pt x="1323086" y="2057146"/>
                    <a:pt x="1323086" y="2962783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95390" y="237033"/>
            <a:ext cx="6735647" cy="7493098"/>
            <a:chOff x="0" y="0"/>
            <a:chExt cx="8980862" cy="999079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3214354" y="924345"/>
              <a:ext cx="3805732" cy="1100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77"/>
                </a:lnSpc>
              </a:pPr>
              <a:r>
                <a:rPr lang="en-US" sz="514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Spotify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747308" y="3376086"/>
              <a:ext cx="7486254" cy="1104537"/>
              <a:chOff x="0" y="0"/>
              <a:chExt cx="8726058" cy="12874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12700" y="12700"/>
                <a:ext cx="8700643" cy="1262126"/>
              </a:xfrm>
              <a:custGeom>
                <a:avLst/>
                <a:gdLst/>
                <a:ahLst/>
                <a:cxnLst/>
                <a:rect r="r" b="b" t="t" l="l"/>
                <a:pathLst>
                  <a:path h="1262126" w="8700643">
                    <a:moveTo>
                      <a:pt x="0" y="64770"/>
                    </a:moveTo>
                    <a:cubicBezTo>
                      <a:pt x="0" y="28956"/>
                      <a:pt x="29464" y="0"/>
                      <a:pt x="65786" y="0"/>
                    </a:cubicBezTo>
                    <a:lnTo>
                      <a:pt x="8634857" y="0"/>
                    </a:lnTo>
                    <a:cubicBezTo>
                      <a:pt x="8671178" y="0"/>
                      <a:pt x="8700643" y="28956"/>
                      <a:pt x="8700643" y="64770"/>
                    </a:cubicBezTo>
                    <a:lnTo>
                      <a:pt x="8700643" y="1197356"/>
                    </a:lnTo>
                    <a:cubicBezTo>
                      <a:pt x="8700643" y="1233043"/>
                      <a:pt x="8671178" y="1262126"/>
                      <a:pt x="8634857" y="1262126"/>
                    </a:cubicBezTo>
                    <a:lnTo>
                      <a:pt x="65786" y="1262126"/>
                    </a:lnTo>
                    <a:cubicBezTo>
                      <a:pt x="29464" y="1262126"/>
                      <a:pt x="0" y="1233170"/>
                      <a:pt x="0" y="119735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726043" cy="1287526"/>
              </a:xfrm>
              <a:custGeom>
                <a:avLst/>
                <a:gdLst/>
                <a:ahLst/>
                <a:cxnLst/>
                <a:rect r="r" b="b" t="t" l="l"/>
                <a:pathLst>
                  <a:path h="1287526" w="8726043">
                    <a:moveTo>
                      <a:pt x="0" y="77470"/>
                    </a:moveTo>
                    <a:cubicBezTo>
                      <a:pt x="0" y="34417"/>
                      <a:pt x="35306" y="0"/>
                      <a:pt x="78486" y="0"/>
                    </a:cubicBezTo>
                    <a:lnTo>
                      <a:pt x="8647557" y="0"/>
                    </a:lnTo>
                    <a:lnTo>
                      <a:pt x="8647557" y="12700"/>
                    </a:lnTo>
                    <a:lnTo>
                      <a:pt x="8647557" y="0"/>
                    </a:lnTo>
                    <a:cubicBezTo>
                      <a:pt x="8690737" y="0"/>
                      <a:pt x="8726043" y="34417"/>
                      <a:pt x="8726043" y="77470"/>
                    </a:cubicBezTo>
                    <a:lnTo>
                      <a:pt x="8713343" y="77470"/>
                    </a:lnTo>
                    <a:lnTo>
                      <a:pt x="8726043" y="77470"/>
                    </a:lnTo>
                    <a:lnTo>
                      <a:pt x="8726043" y="1210056"/>
                    </a:lnTo>
                    <a:lnTo>
                      <a:pt x="8713343" y="1210056"/>
                    </a:lnTo>
                    <a:lnTo>
                      <a:pt x="8726043" y="1210056"/>
                    </a:lnTo>
                    <a:cubicBezTo>
                      <a:pt x="8726043" y="1252982"/>
                      <a:pt x="8690737" y="1287526"/>
                      <a:pt x="8647557" y="1287526"/>
                    </a:cubicBezTo>
                    <a:lnTo>
                      <a:pt x="8647557" y="1274826"/>
                    </a:lnTo>
                    <a:lnTo>
                      <a:pt x="8647557" y="1287526"/>
                    </a:lnTo>
                    <a:lnTo>
                      <a:pt x="78486" y="1287526"/>
                    </a:lnTo>
                    <a:lnTo>
                      <a:pt x="78486" y="1274826"/>
                    </a:lnTo>
                    <a:lnTo>
                      <a:pt x="78486" y="1287526"/>
                    </a:lnTo>
                    <a:cubicBezTo>
                      <a:pt x="35306" y="1287526"/>
                      <a:pt x="0" y="1253109"/>
                      <a:pt x="0" y="1210056"/>
                    </a:cubicBezTo>
                    <a:lnTo>
                      <a:pt x="0" y="77470"/>
                    </a:lnTo>
                    <a:lnTo>
                      <a:pt x="12700" y="77470"/>
                    </a:lnTo>
                    <a:lnTo>
                      <a:pt x="0" y="77470"/>
                    </a:lnTo>
                    <a:moveTo>
                      <a:pt x="25400" y="77470"/>
                    </a:moveTo>
                    <a:lnTo>
                      <a:pt x="25400" y="1210056"/>
                    </a:lnTo>
                    <a:lnTo>
                      <a:pt x="12700" y="1210056"/>
                    </a:lnTo>
                    <a:lnTo>
                      <a:pt x="25400" y="1210056"/>
                    </a:lnTo>
                    <a:cubicBezTo>
                      <a:pt x="25400" y="1238631"/>
                      <a:pt x="49022" y="1262126"/>
                      <a:pt x="78486" y="1262126"/>
                    </a:cubicBezTo>
                    <a:lnTo>
                      <a:pt x="8647557" y="1262126"/>
                    </a:lnTo>
                    <a:cubicBezTo>
                      <a:pt x="8677148" y="1262126"/>
                      <a:pt x="8700643" y="1238631"/>
                      <a:pt x="8700643" y="1210056"/>
                    </a:cubicBezTo>
                    <a:lnTo>
                      <a:pt x="8700643" y="77470"/>
                    </a:lnTo>
                    <a:cubicBezTo>
                      <a:pt x="8700643" y="48895"/>
                      <a:pt x="8677021" y="25400"/>
                      <a:pt x="8647557" y="25400"/>
                    </a:cubicBezTo>
                    <a:lnTo>
                      <a:pt x="78486" y="25400"/>
                    </a:lnTo>
                    <a:lnTo>
                      <a:pt x="78486" y="12700"/>
                    </a:lnTo>
                    <a:lnTo>
                      <a:pt x="78486" y="25400"/>
                    </a:lnTo>
                    <a:cubicBezTo>
                      <a:pt x="49022" y="25400"/>
                      <a:pt x="25400" y="48895"/>
                      <a:pt x="25400" y="77470"/>
                    </a:cubicBezTo>
                    <a:close/>
                  </a:path>
                </a:pathLst>
              </a:custGeom>
              <a:solidFill>
                <a:srgbClr val="E9EC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9525"/>
                <a:ext cx="8726058" cy="1277935"/>
              </a:xfrm>
              <a:prstGeom prst="rect">
                <a:avLst/>
              </a:prstGeom>
            </p:spPr>
            <p:txBody>
              <a:bodyPr anchor="ctr" rtlCol="false" tIns="44152" lIns="44152" bIns="44152" rIns="44152"/>
              <a:lstStyle/>
              <a:p>
                <a:pPr algn="l">
                  <a:lnSpc>
                    <a:spcPts val="2880"/>
                  </a:lnSpc>
                </a:pPr>
                <a:r>
                  <a:rPr lang="en-US" sz="2400">
                    <a:solidFill>
                      <a:srgbClr val="5D616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 Phone, email, or username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47306" y="4942396"/>
              <a:ext cx="7486254" cy="1104537"/>
              <a:chOff x="0" y="0"/>
              <a:chExt cx="8726058" cy="128746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2700" y="12700"/>
                <a:ext cx="8700643" cy="1262126"/>
              </a:xfrm>
              <a:custGeom>
                <a:avLst/>
                <a:gdLst/>
                <a:ahLst/>
                <a:cxnLst/>
                <a:rect r="r" b="b" t="t" l="l"/>
                <a:pathLst>
                  <a:path h="1262126" w="8700643">
                    <a:moveTo>
                      <a:pt x="0" y="64770"/>
                    </a:moveTo>
                    <a:cubicBezTo>
                      <a:pt x="0" y="28956"/>
                      <a:pt x="29464" y="0"/>
                      <a:pt x="65786" y="0"/>
                    </a:cubicBezTo>
                    <a:lnTo>
                      <a:pt x="8634857" y="0"/>
                    </a:lnTo>
                    <a:cubicBezTo>
                      <a:pt x="8671178" y="0"/>
                      <a:pt x="8700643" y="28956"/>
                      <a:pt x="8700643" y="64770"/>
                    </a:cubicBezTo>
                    <a:lnTo>
                      <a:pt x="8700643" y="1197356"/>
                    </a:lnTo>
                    <a:cubicBezTo>
                      <a:pt x="8700643" y="1233043"/>
                      <a:pt x="8671178" y="1262126"/>
                      <a:pt x="8634857" y="1262126"/>
                    </a:cubicBezTo>
                    <a:lnTo>
                      <a:pt x="65786" y="1262126"/>
                    </a:lnTo>
                    <a:cubicBezTo>
                      <a:pt x="29464" y="1262126"/>
                      <a:pt x="0" y="1233170"/>
                      <a:pt x="0" y="119735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726043" cy="1287526"/>
              </a:xfrm>
              <a:custGeom>
                <a:avLst/>
                <a:gdLst/>
                <a:ahLst/>
                <a:cxnLst/>
                <a:rect r="r" b="b" t="t" l="l"/>
                <a:pathLst>
                  <a:path h="1287526" w="8726043">
                    <a:moveTo>
                      <a:pt x="0" y="77470"/>
                    </a:moveTo>
                    <a:cubicBezTo>
                      <a:pt x="0" y="34417"/>
                      <a:pt x="35306" y="0"/>
                      <a:pt x="78486" y="0"/>
                    </a:cubicBezTo>
                    <a:lnTo>
                      <a:pt x="8647557" y="0"/>
                    </a:lnTo>
                    <a:lnTo>
                      <a:pt x="8647557" y="12700"/>
                    </a:lnTo>
                    <a:lnTo>
                      <a:pt x="8647557" y="0"/>
                    </a:lnTo>
                    <a:cubicBezTo>
                      <a:pt x="8690737" y="0"/>
                      <a:pt x="8726043" y="34417"/>
                      <a:pt x="8726043" y="77470"/>
                    </a:cubicBezTo>
                    <a:lnTo>
                      <a:pt x="8713343" y="77470"/>
                    </a:lnTo>
                    <a:lnTo>
                      <a:pt x="8726043" y="77470"/>
                    </a:lnTo>
                    <a:lnTo>
                      <a:pt x="8726043" y="1210056"/>
                    </a:lnTo>
                    <a:lnTo>
                      <a:pt x="8713343" y="1210056"/>
                    </a:lnTo>
                    <a:lnTo>
                      <a:pt x="8726043" y="1210056"/>
                    </a:lnTo>
                    <a:cubicBezTo>
                      <a:pt x="8726043" y="1252982"/>
                      <a:pt x="8690737" y="1287526"/>
                      <a:pt x="8647557" y="1287526"/>
                    </a:cubicBezTo>
                    <a:lnTo>
                      <a:pt x="8647557" y="1274826"/>
                    </a:lnTo>
                    <a:lnTo>
                      <a:pt x="8647557" y="1287526"/>
                    </a:lnTo>
                    <a:lnTo>
                      <a:pt x="78486" y="1287526"/>
                    </a:lnTo>
                    <a:lnTo>
                      <a:pt x="78486" y="1274826"/>
                    </a:lnTo>
                    <a:lnTo>
                      <a:pt x="78486" y="1287526"/>
                    </a:lnTo>
                    <a:cubicBezTo>
                      <a:pt x="35306" y="1287526"/>
                      <a:pt x="0" y="1253109"/>
                      <a:pt x="0" y="1210056"/>
                    </a:cubicBezTo>
                    <a:lnTo>
                      <a:pt x="0" y="77470"/>
                    </a:lnTo>
                    <a:lnTo>
                      <a:pt x="12700" y="77470"/>
                    </a:lnTo>
                    <a:lnTo>
                      <a:pt x="0" y="77470"/>
                    </a:lnTo>
                    <a:moveTo>
                      <a:pt x="25400" y="77470"/>
                    </a:moveTo>
                    <a:lnTo>
                      <a:pt x="25400" y="1210056"/>
                    </a:lnTo>
                    <a:lnTo>
                      <a:pt x="12700" y="1210056"/>
                    </a:lnTo>
                    <a:lnTo>
                      <a:pt x="25400" y="1210056"/>
                    </a:lnTo>
                    <a:cubicBezTo>
                      <a:pt x="25400" y="1238631"/>
                      <a:pt x="49022" y="1262126"/>
                      <a:pt x="78486" y="1262126"/>
                    </a:cubicBezTo>
                    <a:lnTo>
                      <a:pt x="8647557" y="1262126"/>
                    </a:lnTo>
                    <a:cubicBezTo>
                      <a:pt x="8677148" y="1262126"/>
                      <a:pt x="8700643" y="1238631"/>
                      <a:pt x="8700643" y="1210056"/>
                    </a:cubicBezTo>
                    <a:lnTo>
                      <a:pt x="8700643" y="77470"/>
                    </a:lnTo>
                    <a:cubicBezTo>
                      <a:pt x="8700643" y="48895"/>
                      <a:pt x="8677021" y="25400"/>
                      <a:pt x="8647557" y="25400"/>
                    </a:cubicBezTo>
                    <a:lnTo>
                      <a:pt x="78486" y="25400"/>
                    </a:lnTo>
                    <a:lnTo>
                      <a:pt x="78486" y="12700"/>
                    </a:lnTo>
                    <a:lnTo>
                      <a:pt x="78486" y="25400"/>
                    </a:lnTo>
                    <a:cubicBezTo>
                      <a:pt x="49022" y="25400"/>
                      <a:pt x="25400" y="48895"/>
                      <a:pt x="25400" y="77470"/>
                    </a:cubicBezTo>
                    <a:close/>
                  </a:path>
                </a:pathLst>
              </a:custGeom>
              <a:solidFill>
                <a:srgbClr val="E9ECE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9525"/>
                <a:ext cx="8726058" cy="1277935"/>
              </a:xfrm>
              <a:prstGeom prst="rect">
                <a:avLst/>
              </a:prstGeom>
            </p:spPr>
            <p:txBody>
              <a:bodyPr anchor="ctr" rtlCol="false" tIns="44152" lIns="44152" bIns="44152" rIns="44152"/>
              <a:lstStyle/>
              <a:p>
                <a:pPr algn="l">
                  <a:lnSpc>
                    <a:spcPts val="2880"/>
                  </a:lnSpc>
                </a:pPr>
                <a:r>
                  <a:rPr lang="en-US" sz="2400">
                    <a:solidFill>
                      <a:srgbClr val="5D616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 Password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58202" y="6871673"/>
              <a:ext cx="7440691" cy="952671"/>
              <a:chOff x="0" y="0"/>
              <a:chExt cx="8672950" cy="111044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672957" cy="1110361"/>
              </a:xfrm>
              <a:custGeom>
                <a:avLst/>
                <a:gdLst/>
                <a:ahLst/>
                <a:cxnLst/>
                <a:rect r="r" b="b" t="t" l="l"/>
                <a:pathLst>
                  <a:path h="1110361" w="8672957">
                    <a:moveTo>
                      <a:pt x="0" y="530352"/>
                    </a:moveTo>
                    <a:cubicBezTo>
                      <a:pt x="0" y="237490"/>
                      <a:pt x="237490" y="0"/>
                      <a:pt x="530352" y="0"/>
                    </a:cubicBezTo>
                    <a:lnTo>
                      <a:pt x="8142605" y="0"/>
                    </a:lnTo>
                    <a:cubicBezTo>
                      <a:pt x="8435594" y="0"/>
                      <a:pt x="8672957" y="237490"/>
                      <a:pt x="8672957" y="530352"/>
                    </a:cubicBezTo>
                    <a:lnTo>
                      <a:pt x="8672957" y="580009"/>
                    </a:lnTo>
                    <a:cubicBezTo>
                      <a:pt x="8672957" y="872998"/>
                      <a:pt x="8435467" y="1110361"/>
                      <a:pt x="8142605" y="1110361"/>
                    </a:cubicBezTo>
                    <a:lnTo>
                      <a:pt x="530352" y="1110361"/>
                    </a:lnTo>
                    <a:cubicBezTo>
                      <a:pt x="237490" y="1110488"/>
                      <a:pt x="0" y="872998"/>
                      <a:pt x="0" y="580009"/>
                    </a:cubicBezTo>
                    <a:close/>
                  </a:path>
                </a:pathLst>
              </a:custGeom>
              <a:solidFill>
                <a:srgbClr val="1ED76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8672950" cy="1129494"/>
              </a:xfrm>
              <a:prstGeom prst="rect">
                <a:avLst/>
              </a:prstGeom>
            </p:spPr>
            <p:txBody>
              <a:bodyPr anchor="ctr" rtlCol="false" tIns="44152" lIns="44152" bIns="44152" rIns="44152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Log in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960778" y="8568390"/>
              <a:ext cx="5059308" cy="433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D76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Forgot password? Sign up for Spotify</a:t>
              </a:r>
            </a:p>
          </p:txBody>
        </p:sp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1511513" y="571798"/>
              <a:ext cx="1598244" cy="1598244"/>
              <a:chOff x="0" y="0"/>
              <a:chExt cx="1862930" cy="1862930"/>
            </a:xfrm>
          </p:grpSpPr>
          <p:sp>
            <p:nvSpPr>
              <p:cNvPr name="Freeform 21" id="21" descr="Spotify Logo Png - Free Transparent PNG Logos"/>
              <p:cNvSpPr/>
              <p:nvPr/>
            </p:nvSpPr>
            <p:spPr>
              <a:xfrm flipH="false" flipV="false" rot="0">
                <a:off x="0" y="0"/>
                <a:ext cx="1862963" cy="1862963"/>
              </a:xfrm>
              <a:custGeom>
                <a:avLst/>
                <a:gdLst/>
                <a:ahLst/>
                <a:cxnLst/>
                <a:rect r="r" b="b" t="t" l="l"/>
                <a:pathLst>
                  <a:path h="1862963" w="1862963">
                    <a:moveTo>
                      <a:pt x="0" y="0"/>
                    </a:moveTo>
                    <a:lnTo>
                      <a:pt x="1862963" y="0"/>
                    </a:lnTo>
                    <a:lnTo>
                      <a:pt x="1862963" y="1862963"/>
                    </a:lnTo>
                    <a:lnTo>
                      <a:pt x="0" y="18629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1"/>
                </a:stretch>
              </a:blip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8980862" cy="9990798"/>
              <a:chOff x="0" y="0"/>
              <a:chExt cx="10468190" cy="1164538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468229" cy="11645392"/>
              </a:xfrm>
              <a:custGeom>
                <a:avLst/>
                <a:gdLst/>
                <a:ahLst/>
                <a:cxnLst/>
                <a:rect r="r" b="b" t="t" l="l"/>
                <a:pathLst>
                  <a:path h="11645392" w="10468229">
                    <a:moveTo>
                      <a:pt x="0" y="525907"/>
                    </a:moveTo>
                    <a:cubicBezTo>
                      <a:pt x="0" y="235458"/>
                      <a:pt x="235331" y="0"/>
                      <a:pt x="525780" y="0"/>
                    </a:cubicBezTo>
                    <a:lnTo>
                      <a:pt x="9942449" y="0"/>
                    </a:lnTo>
                    <a:lnTo>
                      <a:pt x="9942449" y="19050"/>
                    </a:lnTo>
                    <a:lnTo>
                      <a:pt x="9942449" y="0"/>
                    </a:lnTo>
                    <a:cubicBezTo>
                      <a:pt x="10232771" y="0"/>
                      <a:pt x="10468229" y="235458"/>
                      <a:pt x="10468229" y="525907"/>
                    </a:cubicBezTo>
                    <a:lnTo>
                      <a:pt x="10449179" y="525907"/>
                    </a:lnTo>
                    <a:lnTo>
                      <a:pt x="10468229" y="525907"/>
                    </a:lnTo>
                    <a:lnTo>
                      <a:pt x="10468229" y="11119485"/>
                    </a:lnTo>
                    <a:lnTo>
                      <a:pt x="10449179" y="11119485"/>
                    </a:lnTo>
                    <a:lnTo>
                      <a:pt x="10468229" y="11119485"/>
                    </a:lnTo>
                    <a:cubicBezTo>
                      <a:pt x="10468229" y="11409934"/>
                      <a:pt x="10232898" y="11645392"/>
                      <a:pt x="9942449" y="11645392"/>
                    </a:cubicBezTo>
                    <a:lnTo>
                      <a:pt x="9942449" y="11626342"/>
                    </a:lnTo>
                    <a:lnTo>
                      <a:pt x="9942449" y="11645392"/>
                    </a:lnTo>
                    <a:lnTo>
                      <a:pt x="525780" y="11645392"/>
                    </a:lnTo>
                    <a:lnTo>
                      <a:pt x="525780" y="11626342"/>
                    </a:lnTo>
                    <a:lnTo>
                      <a:pt x="525780" y="11645392"/>
                    </a:lnTo>
                    <a:cubicBezTo>
                      <a:pt x="235331" y="11645392"/>
                      <a:pt x="0" y="11409934"/>
                      <a:pt x="0" y="11119485"/>
                    </a:cubicBezTo>
                    <a:lnTo>
                      <a:pt x="0" y="525907"/>
                    </a:lnTo>
                    <a:lnTo>
                      <a:pt x="19050" y="525907"/>
                    </a:lnTo>
                    <a:lnTo>
                      <a:pt x="0" y="525907"/>
                    </a:lnTo>
                    <a:moveTo>
                      <a:pt x="38100" y="525907"/>
                    </a:moveTo>
                    <a:lnTo>
                      <a:pt x="38100" y="11119485"/>
                    </a:lnTo>
                    <a:lnTo>
                      <a:pt x="19050" y="11119485"/>
                    </a:lnTo>
                    <a:lnTo>
                      <a:pt x="38100" y="11119485"/>
                    </a:lnTo>
                    <a:cubicBezTo>
                      <a:pt x="38100" y="11388852"/>
                      <a:pt x="256413" y="11607292"/>
                      <a:pt x="525780" y="11607292"/>
                    </a:cubicBezTo>
                    <a:lnTo>
                      <a:pt x="9942449" y="11607292"/>
                    </a:lnTo>
                    <a:cubicBezTo>
                      <a:pt x="10211816" y="11607292"/>
                      <a:pt x="10430129" y="11388852"/>
                      <a:pt x="10430129" y="11119485"/>
                    </a:cubicBezTo>
                    <a:lnTo>
                      <a:pt x="10430129" y="525907"/>
                    </a:lnTo>
                    <a:cubicBezTo>
                      <a:pt x="10430129" y="256540"/>
                      <a:pt x="10211816" y="38100"/>
                      <a:pt x="9942449" y="38100"/>
                    </a:cubicBezTo>
                    <a:lnTo>
                      <a:pt x="525780" y="38100"/>
                    </a:lnTo>
                    <a:lnTo>
                      <a:pt x="525780" y="19050"/>
                    </a:lnTo>
                    <a:lnTo>
                      <a:pt x="525780" y="38100"/>
                    </a:lnTo>
                    <a:cubicBezTo>
                      <a:pt x="256413" y="38100"/>
                      <a:pt x="38100" y="256540"/>
                      <a:pt x="38100" y="525907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</p:grpSp>
      </p:grpSp>
      <p:sp>
        <p:nvSpPr>
          <p:cNvPr name="TextBox 24" id="24"/>
          <p:cNvSpPr txBox="true"/>
          <p:nvPr/>
        </p:nvSpPr>
        <p:spPr>
          <a:xfrm rot="0">
            <a:off x="3240215" y="8943975"/>
            <a:ext cx="114593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Analyzed using SQL the Spotify dataset and deliver actionable insights on tracks, artists and albums.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40215" y="2420998"/>
            <a:ext cx="6552860" cy="590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5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SPOTIFY TRACKS ANALYSIS</a:t>
            </a:r>
          </a:p>
          <a:p>
            <a:pPr algn="ctr">
              <a:lnSpc>
                <a:spcPts val="6600"/>
              </a:lnSpc>
            </a:pPr>
            <a:r>
              <a:rPr lang="en-US" b="true" sz="5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DATA-DRIVEN INSIGHTS ON LISTENS, ENGAGEMENT &amp; AUDIO FEATURES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990001" y="743637"/>
            <a:ext cx="8799724" cy="8799724"/>
            <a:chOff x="0" y="0"/>
            <a:chExt cx="11732966" cy="11732966"/>
          </a:xfrm>
        </p:grpSpPr>
        <p:sp>
          <p:nvSpPr>
            <p:cNvPr name="Freeform 3" id="3" descr="Spotify Logo Png - Free Transparent PNG Logos"/>
            <p:cNvSpPr/>
            <p:nvPr/>
          </p:nvSpPr>
          <p:spPr>
            <a:xfrm flipH="false" flipV="false" rot="0">
              <a:off x="0" y="0"/>
              <a:ext cx="11733022" cy="11733022"/>
            </a:xfrm>
            <a:custGeom>
              <a:avLst/>
              <a:gdLst/>
              <a:ahLst/>
              <a:cxnLst/>
              <a:rect r="r" b="b" t="t" l="l"/>
              <a:pathLst>
                <a:path h="11733022" w="11733022">
                  <a:moveTo>
                    <a:pt x="0" y="0"/>
                  </a:moveTo>
                  <a:lnTo>
                    <a:pt x="11733022" y="0"/>
                  </a:lnTo>
                  <a:lnTo>
                    <a:pt x="11733022" y="11733022"/>
                  </a:lnTo>
                  <a:lnTo>
                    <a:pt x="0" y="11733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47473" y="3758146"/>
            <a:ext cx="8696871" cy="37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Spotify’s content and marketing team aims to analyze:</a:t>
            </a: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tracks and artists drive the highest engagement</a:t>
            </a: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Differences in listener behavior across platforms (Spotify vs YouTube)</a:t>
            </a: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High-potential tracks for promotion based on streams, views, and energy</a:t>
            </a: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Album-level performance and consistency in audio characteristics</a:t>
            </a: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Opportunities to improve recommendations and playlist strategies</a:t>
            </a:r>
          </a:p>
          <a:p>
            <a:pPr algn="l">
              <a:lnSpc>
                <a:spcPts val="2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427007" y="2646934"/>
            <a:ext cx="1030487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5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321672" y="7749121"/>
            <a:ext cx="2948474" cy="832833"/>
            <a:chOff x="0" y="0"/>
            <a:chExt cx="3931298" cy="11104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1285" cy="1110361"/>
            </a:xfrm>
            <a:custGeom>
              <a:avLst/>
              <a:gdLst/>
              <a:ahLst/>
              <a:cxnLst/>
              <a:rect r="r" b="b" t="t" l="l"/>
              <a:pathLst>
                <a:path h="1110361" w="3931285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lnTo>
                    <a:pt x="3400933" y="0"/>
                  </a:lnTo>
                  <a:cubicBezTo>
                    <a:pt x="3693922" y="0"/>
                    <a:pt x="3931285" y="237490"/>
                    <a:pt x="3931285" y="530352"/>
                  </a:cubicBezTo>
                  <a:lnTo>
                    <a:pt x="3931285" y="580009"/>
                  </a:lnTo>
                  <a:cubicBezTo>
                    <a:pt x="3931285" y="872998"/>
                    <a:pt x="3693795" y="1110361"/>
                    <a:pt x="3400933" y="1110361"/>
                  </a:cubicBezTo>
                  <a:lnTo>
                    <a:pt x="530352" y="1110361"/>
                  </a:lnTo>
                  <a:cubicBezTo>
                    <a:pt x="237490" y="1110488"/>
                    <a:pt x="0" y="872998"/>
                    <a:pt x="0" y="580009"/>
                  </a:cubicBezTo>
                  <a:close/>
                </a:path>
              </a:pathLst>
            </a:custGeom>
            <a:solidFill>
              <a:srgbClr val="1ED7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931298" cy="1129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1660" y="1600443"/>
            <a:ext cx="3193604" cy="3013120"/>
            <a:chOff x="0" y="0"/>
            <a:chExt cx="4258138" cy="40174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8183" cy="4017518"/>
            </a:xfrm>
            <a:custGeom>
              <a:avLst/>
              <a:gdLst/>
              <a:ahLst/>
              <a:cxnLst/>
              <a:rect r="r" b="b" t="t" l="l"/>
              <a:pathLst>
                <a:path h="4017518" w="4258183">
                  <a:moveTo>
                    <a:pt x="0" y="350520"/>
                  </a:moveTo>
                  <a:cubicBezTo>
                    <a:pt x="0" y="156972"/>
                    <a:pt x="156972" y="0"/>
                    <a:pt x="350520" y="0"/>
                  </a:cubicBezTo>
                  <a:lnTo>
                    <a:pt x="3907663" y="0"/>
                  </a:lnTo>
                  <a:cubicBezTo>
                    <a:pt x="4101211" y="0"/>
                    <a:pt x="4258183" y="156972"/>
                    <a:pt x="4258183" y="350520"/>
                  </a:cubicBezTo>
                  <a:lnTo>
                    <a:pt x="4258183" y="3666998"/>
                  </a:lnTo>
                  <a:cubicBezTo>
                    <a:pt x="4258183" y="3860546"/>
                    <a:pt x="4101211" y="4017518"/>
                    <a:pt x="3907663" y="4017518"/>
                  </a:cubicBezTo>
                  <a:lnTo>
                    <a:pt x="350520" y="4017518"/>
                  </a:lnTo>
                  <a:cubicBezTo>
                    <a:pt x="156972" y="4017518"/>
                    <a:pt x="0" y="3860546"/>
                    <a:pt x="0" y="3666998"/>
                  </a:cubicBezTo>
                  <a:close/>
                </a:path>
              </a:pathLst>
            </a:custGeom>
            <a:blipFill>
              <a:blip r:embed="rId2"/>
              <a:stretch>
                <a:fillRect l="-33865" t="0" r="-3386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31216" y="3438285"/>
            <a:ext cx="1746822" cy="538119"/>
            <a:chOff x="0" y="0"/>
            <a:chExt cx="2329096" cy="717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9053" cy="717423"/>
            </a:xfrm>
            <a:custGeom>
              <a:avLst/>
              <a:gdLst/>
              <a:ahLst/>
              <a:cxnLst/>
              <a:rect r="r" b="b" t="t" l="l"/>
              <a:pathLst>
                <a:path h="717423" w="2329053">
                  <a:moveTo>
                    <a:pt x="0" y="342646"/>
                  </a:moveTo>
                  <a:cubicBezTo>
                    <a:pt x="0" y="153416"/>
                    <a:pt x="153416" y="0"/>
                    <a:pt x="342646" y="0"/>
                  </a:cubicBezTo>
                  <a:lnTo>
                    <a:pt x="1986407" y="0"/>
                  </a:lnTo>
                  <a:cubicBezTo>
                    <a:pt x="2175637" y="0"/>
                    <a:pt x="2329053" y="153416"/>
                    <a:pt x="2329053" y="342646"/>
                  </a:cubicBezTo>
                  <a:lnTo>
                    <a:pt x="2329053" y="374777"/>
                  </a:lnTo>
                  <a:cubicBezTo>
                    <a:pt x="2329053" y="564007"/>
                    <a:pt x="2175637" y="717423"/>
                    <a:pt x="1986407" y="717423"/>
                  </a:cubicBezTo>
                  <a:lnTo>
                    <a:pt x="342646" y="717423"/>
                  </a:lnTo>
                  <a:cubicBezTo>
                    <a:pt x="153416" y="717550"/>
                    <a:pt x="0" y="564007"/>
                    <a:pt x="0" y="374777"/>
                  </a:cubicBezTo>
                  <a:close/>
                </a:path>
              </a:pathLst>
            </a:custGeom>
            <a:solidFill>
              <a:srgbClr val="1ED76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329096" cy="717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PLAY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23780" y="3428760"/>
            <a:ext cx="2246455" cy="557169"/>
            <a:chOff x="0" y="0"/>
            <a:chExt cx="2995274" cy="7428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969895" cy="717423"/>
            </a:xfrm>
            <a:custGeom>
              <a:avLst/>
              <a:gdLst/>
              <a:ahLst/>
              <a:cxnLst/>
              <a:rect r="r" b="b" t="t" l="l"/>
              <a:pathLst>
                <a:path h="717423" w="2969895">
                  <a:moveTo>
                    <a:pt x="0" y="342646"/>
                  </a:moveTo>
                  <a:cubicBezTo>
                    <a:pt x="0" y="153416"/>
                    <a:pt x="157480" y="0"/>
                    <a:pt x="351790" y="0"/>
                  </a:cubicBezTo>
                  <a:lnTo>
                    <a:pt x="2618105" y="0"/>
                  </a:lnTo>
                  <a:cubicBezTo>
                    <a:pt x="2812415" y="0"/>
                    <a:pt x="2969895" y="153416"/>
                    <a:pt x="2969895" y="342646"/>
                  </a:cubicBezTo>
                  <a:lnTo>
                    <a:pt x="2969895" y="374777"/>
                  </a:lnTo>
                  <a:cubicBezTo>
                    <a:pt x="2969895" y="564007"/>
                    <a:pt x="2812415" y="717423"/>
                    <a:pt x="2618105" y="717423"/>
                  </a:cubicBezTo>
                  <a:lnTo>
                    <a:pt x="351790" y="717423"/>
                  </a:lnTo>
                  <a:cubicBezTo>
                    <a:pt x="157480" y="717550"/>
                    <a:pt x="0" y="564007"/>
                    <a:pt x="0" y="374777"/>
                  </a:cubicBezTo>
                  <a:close/>
                </a:path>
              </a:pathLst>
            </a:custGeom>
            <a:solidFill>
              <a:srgbClr val="808080">
                <a:alpha val="11373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95295" cy="742823"/>
            </a:xfrm>
            <a:custGeom>
              <a:avLst/>
              <a:gdLst/>
              <a:ahLst/>
              <a:cxnLst/>
              <a:rect r="r" b="b" t="t" l="l"/>
              <a:pathLst>
                <a:path h="742823" w="2995295">
                  <a:moveTo>
                    <a:pt x="0" y="355346"/>
                  </a:moveTo>
                  <a:cubicBezTo>
                    <a:pt x="0" y="158750"/>
                    <a:pt x="163576" y="0"/>
                    <a:pt x="364490" y="0"/>
                  </a:cubicBezTo>
                  <a:lnTo>
                    <a:pt x="2630805" y="0"/>
                  </a:lnTo>
                  <a:lnTo>
                    <a:pt x="2630805" y="12700"/>
                  </a:lnTo>
                  <a:lnTo>
                    <a:pt x="2630805" y="0"/>
                  </a:lnTo>
                  <a:cubicBezTo>
                    <a:pt x="2831846" y="0"/>
                    <a:pt x="2995295" y="158750"/>
                    <a:pt x="2995295" y="355346"/>
                  </a:cubicBezTo>
                  <a:lnTo>
                    <a:pt x="2982595" y="355346"/>
                  </a:lnTo>
                  <a:lnTo>
                    <a:pt x="2995295" y="355346"/>
                  </a:lnTo>
                  <a:lnTo>
                    <a:pt x="2995295" y="387477"/>
                  </a:lnTo>
                  <a:lnTo>
                    <a:pt x="2982595" y="387477"/>
                  </a:lnTo>
                  <a:lnTo>
                    <a:pt x="2995295" y="387477"/>
                  </a:lnTo>
                  <a:cubicBezTo>
                    <a:pt x="2995295" y="584073"/>
                    <a:pt x="2831719" y="742823"/>
                    <a:pt x="2630805" y="742823"/>
                  </a:cubicBezTo>
                  <a:lnTo>
                    <a:pt x="2630805" y="730123"/>
                  </a:lnTo>
                  <a:lnTo>
                    <a:pt x="2630805" y="742823"/>
                  </a:lnTo>
                  <a:lnTo>
                    <a:pt x="364490" y="742823"/>
                  </a:lnTo>
                  <a:lnTo>
                    <a:pt x="364490" y="730123"/>
                  </a:lnTo>
                  <a:lnTo>
                    <a:pt x="364490" y="742823"/>
                  </a:lnTo>
                  <a:cubicBezTo>
                    <a:pt x="163576" y="742950"/>
                    <a:pt x="0" y="584073"/>
                    <a:pt x="0" y="387477"/>
                  </a:cubicBezTo>
                  <a:lnTo>
                    <a:pt x="0" y="355346"/>
                  </a:lnTo>
                  <a:lnTo>
                    <a:pt x="12700" y="355346"/>
                  </a:lnTo>
                  <a:lnTo>
                    <a:pt x="0" y="355346"/>
                  </a:lnTo>
                  <a:moveTo>
                    <a:pt x="25400" y="355346"/>
                  </a:moveTo>
                  <a:lnTo>
                    <a:pt x="25400" y="387477"/>
                  </a:lnTo>
                  <a:lnTo>
                    <a:pt x="12700" y="387477"/>
                  </a:lnTo>
                  <a:lnTo>
                    <a:pt x="25400" y="387477"/>
                  </a:lnTo>
                  <a:cubicBezTo>
                    <a:pt x="25400" y="569468"/>
                    <a:pt x="176911" y="717550"/>
                    <a:pt x="364490" y="717550"/>
                  </a:cubicBezTo>
                  <a:lnTo>
                    <a:pt x="2630805" y="717550"/>
                  </a:lnTo>
                  <a:cubicBezTo>
                    <a:pt x="2818384" y="717550"/>
                    <a:pt x="2969895" y="569468"/>
                    <a:pt x="2969895" y="387604"/>
                  </a:cubicBezTo>
                  <a:lnTo>
                    <a:pt x="2969895" y="355346"/>
                  </a:lnTo>
                  <a:cubicBezTo>
                    <a:pt x="2969895" y="173482"/>
                    <a:pt x="2818384" y="25400"/>
                    <a:pt x="2630805" y="25400"/>
                  </a:cubicBezTo>
                  <a:lnTo>
                    <a:pt x="364490" y="25400"/>
                  </a:lnTo>
                  <a:lnTo>
                    <a:pt x="364490" y="12700"/>
                  </a:lnTo>
                  <a:lnTo>
                    <a:pt x="364490" y="25400"/>
                  </a:lnTo>
                  <a:cubicBezTo>
                    <a:pt x="176911" y="25400"/>
                    <a:pt x="25400" y="173482"/>
                    <a:pt x="25400" y="355346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995274" cy="742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FOLLOWING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06452" y="3428760"/>
            <a:ext cx="697649" cy="557169"/>
            <a:chOff x="0" y="0"/>
            <a:chExt cx="930198" cy="7428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904748" cy="717423"/>
            </a:xfrm>
            <a:custGeom>
              <a:avLst/>
              <a:gdLst/>
              <a:ahLst/>
              <a:cxnLst/>
              <a:rect r="r" b="b" t="t" l="l"/>
              <a:pathLst>
                <a:path h="717423" w="904748">
                  <a:moveTo>
                    <a:pt x="0" y="342646"/>
                  </a:moveTo>
                  <a:cubicBezTo>
                    <a:pt x="0" y="153416"/>
                    <a:pt x="154559" y="0"/>
                    <a:pt x="345186" y="0"/>
                  </a:cubicBezTo>
                  <a:lnTo>
                    <a:pt x="559689" y="0"/>
                  </a:lnTo>
                  <a:cubicBezTo>
                    <a:pt x="750316" y="0"/>
                    <a:pt x="904748" y="153416"/>
                    <a:pt x="904748" y="342646"/>
                  </a:cubicBezTo>
                  <a:lnTo>
                    <a:pt x="904748" y="374777"/>
                  </a:lnTo>
                  <a:cubicBezTo>
                    <a:pt x="904748" y="564007"/>
                    <a:pt x="750189" y="717423"/>
                    <a:pt x="559562" y="717423"/>
                  </a:cubicBezTo>
                  <a:lnTo>
                    <a:pt x="345186" y="717423"/>
                  </a:lnTo>
                  <a:cubicBezTo>
                    <a:pt x="154559" y="717550"/>
                    <a:pt x="0" y="564007"/>
                    <a:pt x="0" y="374777"/>
                  </a:cubicBezTo>
                  <a:close/>
                </a:path>
              </a:pathLst>
            </a:custGeom>
            <a:solidFill>
              <a:srgbClr val="808080">
                <a:alpha val="11373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0148" cy="742823"/>
            </a:xfrm>
            <a:custGeom>
              <a:avLst/>
              <a:gdLst/>
              <a:ahLst/>
              <a:cxnLst/>
              <a:rect r="r" b="b" t="t" l="l"/>
              <a:pathLst>
                <a:path h="742823" w="930148">
                  <a:moveTo>
                    <a:pt x="0" y="355346"/>
                  </a:moveTo>
                  <a:cubicBezTo>
                    <a:pt x="0" y="159004"/>
                    <a:pt x="160274" y="0"/>
                    <a:pt x="357886" y="0"/>
                  </a:cubicBezTo>
                  <a:lnTo>
                    <a:pt x="572389" y="0"/>
                  </a:lnTo>
                  <a:lnTo>
                    <a:pt x="572389" y="12700"/>
                  </a:lnTo>
                  <a:lnTo>
                    <a:pt x="572389" y="0"/>
                  </a:lnTo>
                  <a:cubicBezTo>
                    <a:pt x="769874" y="0"/>
                    <a:pt x="930148" y="159004"/>
                    <a:pt x="930148" y="355346"/>
                  </a:cubicBezTo>
                  <a:lnTo>
                    <a:pt x="917448" y="355346"/>
                  </a:lnTo>
                  <a:lnTo>
                    <a:pt x="930148" y="355346"/>
                  </a:lnTo>
                  <a:lnTo>
                    <a:pt x="930148" y="387477"/>
                  </a:lnTo>
                  <a:lnTo>
                    <a:pt x="917448" y="387477"/>
                  </a:lnTo>
                  <a:lnTo>
                    <a:pt x="930148" y="387477"/>
                  </a:lnTo>
                  <a:cubicBezTo>
                    <a:pt x="930148" y="583819"/>
                    <a:pt x="769874" y="742823"/>
                    <a:pt x="572262" y="742823"/>
                  </a:cubicBezTo>
                  <a:lnTo>
                    <a:pt x="572262" y="730123"/>
                  </a:lnTo>
                  <a:lnTo>
                    <a:pt x="572262" y="742823"/>
                  </a:lnTo>
                  <a:lnTo>
                    <a:pt x="357886" y="742823"/>
                  </a:lnTo>
                  <a:lnTo>
                    <a:pt x="357886" y="730123"/>
                  </a:lnTo>
                  <a:lnTo>
                    <a:pt x="357886" y="742823"/>
                  </a:lnTo>
                  <a:cubicBezTo>
                    <a:pt x="160274" y="742950"/>
                    <a:pt x="0" y="583819"/>
                    <a:pt x="0" y="387477"/>
                  </a:cubicBezTo>
                  <a:lnTo>
                    <a:pt x="0" y="355346"/>
                  </a:lnTo>
                  <a:lnTo>
                    <a:pt x="12700" y="355346"/>
                  </a:lnTo>
                  <a:lnTo>
                    <a:pt x="0" y="355346"/>
                  </a:lnTo>
                  <a:moveTo>
                    <a:pt x="25400" y="355346"/>
                  </a:moveTo>
                  <a:lnTo>
                    <a:pt x="25400" y="387477"/>
                  </a:lnTo>
                  <a:lnTo>
                    <a:pt x="12700" y="387477"/>
                  </a:lnTo>
                  <a:lnTo>
                    <a:pt x="25400" y="387477"/>
                  </a:lnTo>
                  <a:cubicBezTo>
                    <a:pt x="25400" y="569722"/>
                    <a:pt x="174117" y="717550"/>
                    <a:pt x="357886" y="717550"/>
                  </a:cubicBezTo>
                  <a:lnTo>
                    <a:pt x="572389" y="717550"/>
                  </a:lnTo>
                  <a:cubicBezTo>
                    <a:pt x="756031" y="717550"/>
                    <a:pt x="904875" y="569722"/>
                    <a:pt x="904875" y="387604"/>
                  </a:cubicBezTo>
                  <a:lnTo>
                    <a:pt x="904875" y="355346"/>
                  </a:lnTo>
                  <a:cubicBezTo>
                    <a:pt x="904748" y="173228"/>
                    <a:pt x="756031" y="25400"/>
                    <a:pt x="572389" y="25400"/>
                  </a:cubicBezTo>
                  <a:lnTo>
                    <a:pt x="357886" y="25400"/>
                  </a:lnTo>
                  <a:lnTo>
                    <a:pt x="357886" y="12700"/>
                  </a:lnTo>
                  <a:lnTo>
                    <a:pt x="357886" y="25400"/>
                  </a:lnTo>
                  <a:cubicBezTo>
                    <a:pt x="174117" y="25400"/>
                    <a:pt x="25400" y="173228"/>
                    <a:pt x="25400" y="355346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30198" cy="742892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…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654231" y="365791"/>
            <a:ext cx="348450" cy="373566"/>
            <a:chOff x="0" y="0"/>
            <a:chExt cx="464600" cy="4980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4566" cy="498094"/>
            </a:xfrm>
            <a:custGeom>
              <a:avLst/>
              <a:gdLst/>
              <a:ahLst/>
              <a:cxnLst/>
              <a:rect r="r" b="b" t="t" l="l"/>
              <a:pathLst>
                <a:path h="498094" w="464566">
                  <a:moveTo>
                    <a:pt x="232283" y="0"/>
                  </a:moveTo>
                  <a:lnTo>
                    <a:pt x="464566" y="154051"/>
                  </a:lnTo>
                  <a:lnTo>
                    <a:pt x="464566" y="498094"/>
                  </a:lnTo>
                  <a:lnTo>
                    <a:pt x="305943" y="498094"/>
                  </a:lnTo>
                  <a:lnTo>
                    <a:pt x="305943" y="271018"/>
                  </a:lnTo>
                  <a:lnTo>
                    <a:pt x="163576" y="271018"/>
                  </a:lnTo>
                  <a:lnTo>
                    <a:pt x="163576" y="498094"/>
                  </a:lnTo>
                  <a:lnTo>
                    <a:pt x="0" y="498094"/>
                  </a:lnTo>
                  <a:lnTo>
                    <a:pt x="0" y="154051"/>
                  </a:lnTo>
                  <a:lnTo>
                    <a:pt x="23228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7" id="17"/>
          <p:cNvSpPr/>
          <p:nvPr/>
        </p:nvSpPr>
        <p:spPr>
          <a:xfrm rot="5188632">
            <a:off x="17085920" y="555994"/>
            <a:ext cx="365642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188632">
            <a:off x="17185606" y="555994"/>
            <a:ext cx="365642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4064727">
            <a:off x="17334387" y="555994"/>
            <a:ext cx="39432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422433" y="332238"/>
            <a:ext cx="481440" cy="481440"/>
            <a:chOff x="0" y="0"/>
            <a:chExt cx="641920" cy="641920"/>
          </a:xfrm>
        </p:grpSpPr>
        <p:sp>
          <p:nvSpPr>
            <p:cNvPr name="Freeform 21" id="21" descr="Spotify Logo Png - Free Transparent PNG Logos"/>
            <p:cNvSpPr/>
            <p:nvPr/>
          </p:nvSpPr>
          <p:spPr>
            <a:xfrm flipH="false" flipV="false" rot="0">
              <a:off x="0" y="0"/>
              <a:ext cx="641858" cy="641858"/>
            </a:xfrm>
            <a:custGeom>
              <a:avLst/>
              <a:gdLst/>
              <a:ahLst/>
              <a:cxnLst/>
              <a:rect r="r" b="b" t="t" l="l"/>
              <a:pathLst>
                <a:path h="641858" w="641858">
                  <a:moveTo>
                    <a:pt x="0" y="0"/>
                  </a:moveTo>
                  <a:lnTo>
                    <a:pt x="641858" y="0"/>
                  </a:lnTo>
                  <a:lnTo>
                    <a:pt x="641858" y="641858"/>
                  </a:lnTo>
                  <a:lnTo>
                    <a:pt x="0" y="641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" b="-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131216" y="327146"/>
            <a:ext cx="11416893" cy="538119"/>
            <a:chOff x="0" y="0"/>
            <a:chExt cx="15222524" cy="7174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22474" cy="717423"/>
            </a:xfrm>
            <a:custGeom>
              <a:avLst/>
              <a:gdLst/>
              <a:ahLst/>
              <a:cxnLst/>
              <a:rect r="r" b="b" t="t" l="l"/>
              <a:pathLst>
                <a:path h="717423" w="15222474">
                  <a:moveTo>
                    <a:pt x="0" y="342646"/>
                  </a:moveTo>
                  <a:cubicBezTo>
                    <a:pt x="0" y="153416"/>
                    <a:pt x="153416" y="0"/>
                    <a:pt x="342646" y="0"/>
                  </a:cubicBezTo>
                  <a:lnTo>
                    <a:pt x="14879828" y="0"/>
                  </a:lnTo>
                  <a:cubicBezTo>
                    <a:pt x="15069058" y="0"/>
                    <a:pt x="15222474" y="153416"/>
                    <a:pt x="15222474" y="342646"/>
                  </a:cubicBezTo>
                  <a:lnTo>
                    <a:pt x="15222474" y="374777"/>
                  </a:lnTo>
                  <a:cubicBezTo>
                    <a:pt x="15222474" y="564007"/>
                    <a:pt x="15069058" y="717423"/>
                    <a:pt x="14879828" y="717423"/>
                  </a:cubicBezTo>
                  <a:lnTo>
                    <a:pt x="342646" y="717423"/>
                  </a:lnTo>
                  <a:cubicBezTo>
                    <a:pt x="153416" y="717550"/>
                    <a:pt x="0" y="564007"/>
                    <a:pt x="0" y="374777"/>
                  </a:cubicBezTo>
                  <a:close/>
                </a:path>
              </a:pathLst>
            </a:custGeom>
            <a:solidFill>
              <a:srgbClr val="F7F7F7">
                <a:alpha val="93725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222524" cy="717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Search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19875" y="430951"/>
            <a:ext cx="237906" cy="264925"/>
            <a:chOff x="0" y="0"/>
            <a:chExt cx="317208" cy="3532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0708" cy="363982"/>
            </a:xfrm>
            <a:custGeom>
              <a:avLst/>
              <a:gdLst/>
              <a:ahLst/>
              <a:cxnLst/>
              <a:rect r="r" b="b" t="t" l="l"/>
              <a:pathLst>
                <a:path h="363982" w="330708">
                  <a:moveTo>
                    <a:pt x="0" y="181991"/>
                  </a:moveTo>
                  <a:cubicBezTo>
                    <a:pt x="0" y="83439"/>
                    <a:pt x="72136" y="0"/>
                    <a:pt x="165354" y="0"/>
                  </a:cubicBezTo>
                  <a:lnTo>
                    <a:pt x="165354" y="19050"/>
                  </a:lnTo>
                  <a:lnTo>
                    <a:pt x="165354" y="0"/>
                  </a:lnTo>
                  <a:cubicBezTo>
                    <a:pt x="258572" y="0"/>
                    <a:pt x="330708" y="83439"/>
                    <a:pt x="330708" y="181991"/>
                  </a:cubicBezTo>
                  <a:lnTo>
                    <a:pt x="311658" y="181991"/>
                  </a:lnTo>
                  <a:lnTo>
                    <a:pt x="330708" y="181991"/>
                  </a:lnTo>
                  <a:cubicBezTo>
                    <a:pt x="330708" y="280543"/>
                    <a:pt x="258572" y="363982"/>
                    <a:pt x="165354" y="363982"/>
                  </a:cubicBezTo>
                  <a:lnTo>
                    <a:pt x="165354" y="344932"/>
                  </a:lnTo>
                  <a:lnTo>
                    <a:pt x="165354" y="363982"/>
                  </a:lnTo>
                  <a:cubicBezTo>
                    <a:pt x="72136" y="363982"/>
                    <a:pt x="0" y="280543"/>
                    <a:pt x="0" y="181991"/>
                  </a:cubicBezTo>
                  <a:lnTo>
                    <a:pt x="19050" y="181991"/>
                  </a:lnTo>
                  <a:lnTo>
                    <a:pt x="38100" y="181991"/>
                  </a:lnTo>
                  <a:lnTo>
                    <a:pt x="19050" y="181991"/>
                  </a:lnTo>
                  <a:lnTo>
                    <a:pt x="0" y="181991"/>
                  </a:lnTo>
                  <a:moveTo>
                    <a:pt x="38100" y="181991"/>
                  </a:moveTo>
                  <a:cubicBezTo>
                    <a:pt x="38100" y="192532"/>
                    <a:pt x="29591" y="201041"/>
                    <a:pt x="19050" y="201041"/>
                  </a:cubicBezTo>
                  <a:cubicBezTo>
                    <a:pt x="8509" y="201041"/>
                    <a:pt x="0" y="192532"/>
                    <a:pt x="0" y="181991"/>
                  </a:cubicBezTo>
                  <a:cubicBezTo>
                    <a:pt x="0" y="171450"/>
                    <a:pt x="8509" y="162941"/>
                    <a:pt x="19050" y="162941"/>
                  </a:cubicBezTo>
                  <a:cubicBezTo>
                    <a:pt x="29591" y="162941"/>
                    <a:pt x="38100" y="171450"/>
                    <a:pt x="38100" y="181991"/>
                  </a:cubicBezTo>
                  <a:cubicBezTo>
                    <a:pt x="38100" y="263398"/>
                    <a:pt x="96901" y="325882"/>
                    <a:pt x="165354" y="325882"/>
                  </a:cubicBezTo>
                  <a:cubicBezTo>
                    <a:pt x="233807" y="325882"/>
                    <a:pt x="292608" y="263398"/>
                    <a:pt x="292608" y="181991"/>
                  </a:cubicBezTo>
                  <a:cubicBezTo>
                    <a:pt x="292608" y="100584"/>
                    <a:pt x="233807" y="38100"/>
                    <a:pt x="165354" y="38100"/>
                  </a:cubicBezTo>
                  <a:lnTo>
                    <a:pt x="165354" y="19050"/>
                  </a:lnTo>
                  <a:lnTo>
                    <a:pt x="165354" y="38100"/>
                  </a:lnTo>
                  <a:cubicBezTo>
                    <a:pt x="96901" y="38100"/>
                    <a:pt x="38100" y="100584"/>
                    <a:pt x="38100" y="181991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</p:grpSp>
      <p:sp>
        <p:nvSpPr>
          <p:cNvPr name="AutoShape 27" id="27"/>
          <p:cNvSpPr/>
          <p:nvPr/>
        </p:nvSpPr>
        <p:spPr>
          <a:xfrm rot="2951510">
            <a:off x="15184934" y="678712"/>
            <a:ext cx="128608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502428" y="4965430"/>
            <a:ext cx="17102082" cy="3730651"/>
            <a:chOff x="0" y="0"/>
            <a:chExt cx="22802776" cy="49742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22777323" cy="4948809"/>
            </a:xfrm>
            <a:custGeom>
              <a:avLst/>
              <a:gdLst/>
              <a:ahLst/>
              <a:cxnLst/>
              <a:rect r="r" b="b" t="t" l="l"/>
              <a:pathLst>
                <a:path h="4948809" w="22777323">
                  <a:moveTo>
                    <a:pt x="0" y="109220"/>
                  </a:moveTo>
                  <a:cubicBezTo>
                    <a:pt x="0" y="48895"/>
                    <a:pt x="49149" y="0"/>
                    <a:pt x="109601" y="0"/>
                  </a:cubicBezTo>
                  <a:lnTo>
                    <a:pt x="22667722" y="0"/>
                  </a:lnTo>
                  <a:cubicBezTo>
                    <a:pt x="22728301" y="0"/>
                    <a:pt x="22777323" y="48895"/>
                    <a:pt x="22777323" y="109220"/>
                  </a:cubicBezTo>
                  <a:lnTo>
                    <a:pt x="22777323" y="4839589"/>
                  </a:lnTo>
                  <a:cubicBezTo>
                    <a:pt x="22777323" y="4899914"/>
                    <a:pt x="22728174" y="4948809"/>
                    <a:pt x="22667722" y="4948809"/>
                  </a:cubicBezTo>
                  <a:lnTo>
                    <a:pt x="109601" y="4948809"/>
                  </a:lnTo>
                  <a:cubicBezTo>
                    <a:pt x="49022" y="4948809"/>
                    <a:pt x="0" y="4899914"/>
                    <a:pt x="0" y="4839589"/>
                  </a:cubicBezTo>
                  <a:close/>
                </a:path>
              </a:pathLst>
            </a:custGeom>
            <a:solidFill>
              <a:srgbClr val="0D0D0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02723" cy="4974209"/>
            </a:xfrm>
            <a:custGeom>
              <a:avLst/>
              <a:gdLst/>
              <a:ahLst/>
              <a:cxnLst/>
              <a:rect r="r" b="b" t="t" l="l"/>
              <a:pathLst>
                <a:path h="4974209" w="22802723">
                  <a:moveTo>
                    <a:pt x="0" y="121920"/>
                  </a:moveTo>
                  <a:cubicBezTo>
                    <a:pt x="0" y="54483"/>
                    <a:pt x="54864" y="0"/>
                    <a:pt x="122301" y="0"/>
                  </a:cubicBezTo>
                  <a:lnTo>
                    <a:pt x="22680422" y="0"/>
                  </a:lnTo>
                  <a:lnTo>
                    <a:pt x="22680422" y="12700"/>
                  </a:lnTo>
                  <a:lnTo>
                    <a:pt x="22680422" y="0"/>
                  </a:lnTo>
                  <a:cubicBezTo>
                    <a:pt x="22747985" y="0"/>
                    <a:pt x="22802723" y="54483"/>
                    <a:pt x="22802723" y="121920"/>
                  </a:cubicBezTo>
                  <a:lnTo>
                    <a:pt x="22790023" y="121920"/>
                  </a:lnTo>
                  <a:lnTo>
                    <a:pt x="22802723" y="121920"/>
                  </a:lnTo>
                  <a:lnTo>
                    <a:pt x="22802723" y="4852289"/>
                  </a:lnTo>
                  <a:lnTo>
                    <a:pt x="22790023" y="4852289"/>
                  </a:lnTo>
                  <a:lnTo>
                    <a:pt x="22802723" y="4852289"/>
                  </a:lnTo>
                  <a:cubicBezTo>
                    <a:pt x="22802723" y="4919726"/>
                    <a:pt x="22747860" y="4974209"/>
                    <a:pt x="22680422" y="4974209"/>
                  </a:cubicBezTo>
                  <a:lnTo>
                    <a:pt x="22680422" y="4961509"/>
                  </a:lnTo>
                  <a:lnTo>
                    <a:pt x="22680422" y="4974209"/>
                  </a:lnTo>
                  <a:lnTo>
                    <a:pt x="122301" y="4974209"/>
                  </a:lnTo>
                  <a:lnTo>
                    <a:pt x="122301" y="4961509"/>
                  </a:lnTo>
                  <a:lnTo>
                    <a:pt x="122301" y="4974209"/>
                  </a:lnTo>
                  <a:cubicBezTo>
                    <a:pt x="54737" y="4974209"/>
                    <a:pt x="0" y="4919726"/>
                    <a:pt x="0" y="4852289"/>
                  </a:cubicBezTo>
                  <a:lnTo>
                    <a:pt x="0" y="121920"/>
                  </a:lnTo>
                  <a:lnTo>
                    <a:pt x="12700" y="121920"/>
                  </a:lnTo>
                  <a:lnTo>
                    <a:pt x="0" y="121920"/>
                  </a:lnTo>
                  <a:moveTo>
                    <a:pt x="25400" y="121920"/>
                  </a:moveTo>
                  <a:lnTo>
                    <a:pt x="25400" y="4852289"/>
                  </a:lnTo>
                  <a:lnTo>
                    <a:pt x="12700" y="4852289"/>
                  </a:lnTo>
                  <a:lnTo>
                    <a:pt x="25400" y="4852289"/>
                  </a:lnTo>
                  <a:cubicBezTo>
                    <a:pt x="25400" y="4905502"/>
                    <a:pt x="68707" y="4948809"/>
                    <a:pt x="122301" y="4948809"/>
                  </a:cubicBezTo>
                  <a:lnTo>
                    <a:pt x="22680422" y="4948809"/>
                  </a:lnTo>
                  <a:cubicBezTo>
                    <a:pt x="22734015" y="4948809"/>
                    <a:pt x="22777323" y="4905502"/>
                    <a:pt x="22777323" y="4852289"/>
                  </a:cubicBezTo>
                  <a:lnTo>
                    <a:pt x="22777323" y="121920"/>
                  </a:lnTo>
                  <a:cubicBezTo>
                    <a:pt x="22777323" y="68707"/>
                    <a:pt x="22734015" y="25400"/>
                    <a:pt x="22680422" y="25400"/>
                  </a:cubicBezTo>
                  <a:lnTo>
                    <a:pt x="122301" y="25400"/>
                  </a:lnTo>
                  <a:lnTo>
                    <a:pt x="122301" y="12700"/>
                  </a:lnTo>
                  <a:lnTo>
                    <a:pt x="122301" y="25400"/>
                  </a:lnTo>
                  <a:cubicBezTo>
                    <a:pt x="68707" y="25400"/>
                    <a:pt x="25400" y="68707"/>
                    <a:pt x="25400" y="121920"/>
                  </a:cubicBezTo>
                  <a:close/>
                </a:path>
              </a:pathLst>
            </a:custGeom>
            <a:solidFill>
              <a:srgbClr val="0D0D0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-1281" y="9234762"/>
            <a:ext cx="18287998" cy="1055077"/>
            <a:chOff x="0" y="0"/>
            <a:chExt cx="24383998" cy="14067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0" cy="1406779"/>
            </a:xfrm>
            <a:custGeom>
              <a:avLst/>
              <a:gdLst/>
              <a:ahLst/>
              <a:cxnLst/>
              <a:rect r="r" b="b" t="t" l="l"/>
              <a:pathLst>
                <a:path h="14067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6779"/>
                  </a:lnTo>
                  <a:lnTo>
                    <a:pt x="0" y="1406779"/>
                  </a:lnTo>
                  <a:close/>
                </a:path>
              </a:pathLst>
            </a:custGeom>
            <a:solidFill>
              <a:srgbClr val="18181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83158" y="9390688"/>
            <a:ext cx="697280" cy="665254"/>
            <a:chOff x="0" y="0"/>
            <a:chExt cx="929706" cy="8870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9767" cy="886968"/>
            </a:xfrm>
            <a:custGeom>
              <a:avLst/>
              <a:gdLst/>
              <a:ahLst/>
              <a:cxnLst/>
              <a:rect r="r" b="b" t="t" l="l"/>
              <a:pathLst>
                <a:path h="886968" w="929767">
                  <a:moveTo>
                    <a:pt x="0" y="0"/>
                  </a:moveTo>
                  <a:lnTo>
                    <a:pt x="929767" y="0"/>
                  </a:lnTo>
                  <a:lnTo>
                    <a:pt x="929767" y="886968"/>
                  </a:lnTo>
                  <a:lnTo>
                    <a:pt x="0" y="886968"/>
                  </a:lnTo>
                </a:path>
              </a:pathLst>
            </a:custGeom>
            <a:blipFill>
              <a:blip r:embed="rId4"/>
              <a:stretch>
                <a:fillRect l="-39996" t="0" r="-39996" b="0"/>
              </a:stretch>
            </a:blip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5592862" y="9281194"/>
            <a:ext cx="7064582" cy="889425"/>
            <a:chOff x="0" y="0"/>
            <a:chExt cx="9419442" cy="11859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19463" cy="1185926"/>
            </a:xfrm>
            <a:custGeom>
              <a:avLst/>
              <a:gdLst/>
              <a:ahLst/>
              <a:cxnLst/>
              <a:rect r="r" b="b" t="t" l="l"/>
              <a:pathLst>
                <a:path h="1185926" w="9419463">
                  <a:moveTo>
                    <a:pt x="0" y="0"/>
                  </a:moveTo>
                  <a:lnTo>
                    <a:pt x="9419463" y="0"/>
                  </a:lnTo>
                  <a:lnTo>
                    <a:pt x="9419463" y="1185926"/>
                  </a:lnTo>
                  <a:lnTo>
                    <a:pt x="0" y="118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14789361" y="9387411"/>
            <a:ext cx="3343275" cy="600075"/>
            <a:chOff x="0" y="0"/>
            <a:chExt cx="4457700" cy="800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57700" cy="800100"/>
            </a:xfrm>
            <a:custGeom>
              <a:avLst/>
              <a:gdLst/>
              <a:ahLst/>
              <a:cxnLst/>
              <a:rect r="r" b="b" t="t" l="l"/>
              <a:pathLst>
                <a:path h="8001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AutoShape 39" id="39"/>
          <p:cNvSpPr/>
          <p:nvPr/>
        </p:nvSpPr>
        <p:spPr>
          <a:xfrm rot="34424">
            <a:off x="6263220" y="10006180"/>
            <a:ext cx="5817007" cy="0"/>
          </a:xfrm>
          <a:prstGeom prst="line">
            <a:avLst/>
          </a:prstGeom>
          <a:ln cap="rnd" w="19050">
            <a:solidFill>
              <a:srgbClr val="1ED7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1972926" y="2390775"/>
            <a:ext cx="1298305" cy="1298305"/>
          </a:xfrm>
          <a:custGeom>
            <a:avLst/>
            <a:gdLst/>
            <a:ahLst/>
            <a:cxnLst/>
            <a:rect r="r" b="b" t="t" l="l"/>
            <a:pathLst>
              <a:path h="1298305" w="1298305">
                <a:moveTo>
                  <a:pt x="0" y="0"/>
                </a:moveTo>
                <a:lnTo>
                  <a:pt x="1298306" y="0"/>
                </a:lnTo>
                <a:lnTo>
                  <a:pt x="1298306" y="1298305"/>
                </a:lnTo>
                <a:lnTo>
                  <a:pt x="0" y="12983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4222656" y="1865448"/>
            <a:ext cx="553521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About our dataset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16277" y="5283786"/>
            <a:ext cx="16560711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Tables used: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The dataset contains attributes such as: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Artist: The performer of the track.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Track: The name of the song.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Album: The album to which the track belongs.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Album_type: The type of album (e.g., single or album).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Various metrics such as danceability, energy, loudness, tempo, and more.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213212" y="9459427"/>
            <a:ext cx="191433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681427" y="2816090"/>
            <a:ext cx="332125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9" tooltip="https://github.com/najirh/najirh-Spotify-Data-Analysis-using-SQL"/>
              </a:rPr>
              <a:t>Find dataset here.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0824" y="350827"/>
            <a:ext cx="144093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SQL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654231" y="365791"/>
            <a:ext cx="348450" cy="373566"/>
            <a:chOff x="0" y="0"/>
            <a:chExt cx="464600" cy="498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4566" cy="498094"/>
            </a:xfrm>
            <a:custGeom>
              <a:avLst/>
              <a:gdLst/>
              <a:ahLst/>
              <a:cxnLst/>
              <a:rect r="r" b="b" t="t" l="l"/>
              <a:pathLst>
                <a:path h="498094" w="464566">
                  <a:moveTo>
                    <a:pt x="232283" y="0"/>
                  </a:moveTo>
                  <a:lnTo>
                    <a:pt x="464566" y="154051"/>
                  </a:lnTo>
                  <a:lnTo>
                    <a:pt x="464566" y="498094"/>
                  </a:lnTo>
                  <a:lnTo>
                    <a:pt x="305943" y="498094"/>
                  </a:lnTo>
                  <a:lnTo>
                    <a:pt x="305943" y="271018"/>
                  </a:lnTo>
                  <a:lnTo>
                    <a:pt x="163576" y="271018"/>
                  </a:lnTo>
                  <a:lnTo>
                    <a:pt x="163576" y="498094"/>
                  </a:lnTo>
                  <a:lnTo>
                    <a:pt x="0" y="498094"/>
                  </a:lnTo>
                  <a:lnTo>
                    <a:pt x="0" y="154051"/>
                  </a:lnTo>
                  <a:lnTo>
                    <a:pt x="23228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5" id="5"/>
          <p:cNvSpPr/>
          <p:nvPr/>
        </p:nvSpPr>
        <p:spPr>
          <a:xfrm rot="5188632">
            <a:off x="17085920" y="555994"/>
            <a:ext cx="365642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188632">
            <a:off x="17185606" y="555994"/>
            <a:ext cx="365642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064727">
            <a:off x="17334387" y="555994"/>
            <a:ext cx="39432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22433" y="332238"/>
            <a:ext cx="481440" cy="481440"/>
            <a:chOff x="0" y="0"/>
            <a:chExt cx="641920" cy="641920"/>
          </a:xfrm>
        </p:grpSpPr>
        <p:sp>
          <p:nvSpPr>
            <p:cNvPr name="Freeform 9" id="9" descr="Spotify Logo Png - Free Transparent PNG Logos"/>
            <p:cNvSpPr/>
            <p:nvPr/>
          </p:nvSpPr>
          <p:spPr>
            <a:xfrm flipH="false" flipV="false" rot="0">
              <a:off x="0" y="0"/>
              <a:ext cx="641858" cy="641858"/>
            </a:xfrm>
            <a:custGeom>
              <a:avLst/>
              <a:gdLst/>
              <a:ahLst/>
              <a:cxnLst/>
              <a:rect r="r" b="b" t="t" l="l"/>
              <a:pathLst>
                <a:path h="641858" w="641858">
                  <a:moveTo>
                    <a:pt x="0" y="0"/>
                  </a:moveTo>
                  <a:lnTo>
                    <a:pt x="641858" y="0"/>
                  </a:lnTo>
                  <a:lnTo>
                    <a:pt x="641858" y="641858"/>
                  </a:lnTo>
                  <a:lnTo>
                    <a:pt x="0" y="641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" b="-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31216" y="327146"/>
            <a:ext cx="11416893" cy="538119"/>
            <a:chOff x="0" y="0"/>
            <a:chExt cx="15222524" cy="7174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22474" cy="717423"/>
            </a:xfrm>
            <a:custGeom>
              <a:avLst/>
              <a:gdLst/>
              <a:ahLst/>
              <a:cxnLst/>
              <a:rect r="r" b="b" t="t" l="l"/>
              <a:pathLst>
                <a:path h="717423" w="15222474">
                  <a:moveTo>
                    <a:pt x="0" y="342646"/>
                  </a:moveTo>
                  <a:cubicBezTo>
                    <a:pt x="0" y="153416"/>
                    <a:pt x="153416" y="0"/>
                    <a:pt x="342646" y="0"/>
                  </a:cubicBezTo>
                  <a:lnTo>
                    <a:pt x="14879828" y="0"/>
                  </a:lnTo>
                  <a:cubicBezTo>
                    <a:pt x="15069058" y="0"/>
                    <a:pt x="15222474" y="153416"/>
                    <a:pt x="15222474" y="342646"/>
                  </a:cubicBezTo>
                  <a:lnTo>
                    <a:pt x="15222474" y="374777"/>
                  </a:lnTo>
                  <a:cubicBezTo>
                    <a:pt x="15222474" y="564007"/>
                    <a:pt x="15069058" y="717423"/>
                    <a:pt x="14879828" y="717423"/>
                  </a:cubicBezTo>
                  <a:lnTo>
                    <a:pt x="342646" y="717423"/>
                  </a:lnTo>
                  <a:cubicBezTo>
                    <a:pt x="153416" y="717550"/>
                    <a:pt x="0" y="564007"/>
                    <a:pt x="0" y="374777"/>
                  </a:cubicBezTo>
                  <a:close/>
                </a:path>
              </a:pathLst>
            </a:custGeom>
            <a:solidFill>
              <a:srgbClr val="F7F7F7">
                <a:alpha val="93725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5222524" cy="717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Search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19875" y="430951"/>
            <a:ext cx="237906" cy="264925"/>
            <a:chOff x="0" y="0"/>
            <a:chExt cx="317208" cy="3532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0708" cy="363982"/>
            </a:xfrm>
            <a:custGeom>
              <a:avLst/>
              <a:gdLst/>
              <a:ahLst/>
              <a:cxnLst/>
              <a:rect r="r" b="b" t="t" l="l"/>
              <a:pathLst>
                <a:path h="363982" w="330708">
                  <a:moveTo>
                    <a:pt x="0" y="181991"/>
                  </a:moveTo>
                  <a:cubicBezTo>
                    <a:pt x="0" y="83439"/>
                    <a:pt x="72136" y="0"/>
                    <a:pt x="165354" y="0"/>
                  </a:cubicBezTo>
                  <a:lnTo>
                    <a:pt x="165354" y="19050"/>
                  </a:lnTo>
                  <a:lnTo>
                    <a:pt x="165354" y="0"/>
                  </a:lnTo>
                  <a:cubicBezTo>
                    <a:pt x="258572" y="0"/>
                    <a:pt x="330708" y="83439"/>
                    <a:pt x="330708" y="181991"/>
                  </a:cubicBezTo>
                  <a:lnTo>
                    <a:pt x="311658" y="181991"/>
                  </a:lnTo>
                  <a:lnTo>
                    <a:pt x="330708" y="181991"/>
                  </a:lnTo>
                  <a:cubicBezTo>
                    <a:pt x="330708" y="280543"/>
                    <a:pt x="258572" y="363982"/>
                    <a:pt x="165354" y="363982"/>
                  </a:cubicBezTo>
                  <a:lnTo>
                    <a:pt x="165354" y="344932"/>
                  </a:lnTo>
                  <a:lnTo>
                    <a:pt x="165354" y="363982"/>
                  </a:lnTo>
                  <a:cubicBezTo>
                    <a:pt x="72136" y="363982"/>
                    <a:pt x="0" y="280543"/>
                    <a:pt x="0" y="181991"/>
                  </a:cubicBezTo>
                  <a:lnTo>
                    <a:pt x="19050" y="181991"/>
                  </a:lnTo>
                  <a:lnTo>
                    <a:pt x="38100" y="181991"/>
                  </a:lnTo>
                  <a:lnTo>
                    <a:pt x="19050" y="181991"/>
                  </a:lnTo>
                  <a:lnTo>
                    <a:pt x="0" y="181991"/>
                  </a:lnTo>
                  <a:moveTo>
                    <a:pt x="38100" y="181991"/>
                  </a:moveTo>
                  <a:cubicBezTo>
                    <a:pt x="38100" y="192532"/>
                    <a:pt x="29591" y="201041"/>
                    <a:pt x="19050" y="201041"/>
                  </a:cubicBezTo>
                  <a:cubicBezTo>
                    <a:pt x="8509" y="201041"/>
                    <a:pt x="0" y="192532"/>
                    <a:pt x="0" y="181991"/>
                  </a:cubicBezTo>
                  <a:cubicBezTo>
                    <a:pt x="0" y="171450"/>
                    <a:pt x="8509" y="162941"/>
                    <a:pt x="19050" y="162941"/>
                  </a:cubicBezTo>
                  <a:cubicBezTo>
                    <a:pt x="29591" y="162941"/>
                    <a:pt x="38100" y="171450"/>
                    <a:pt x="38100" y="181991"/>
                  </a:cubicBezTo>
                  <a:cubicBezTo>
                    <a:pt x="38100" y="263398"/>
                    <a:pt x="96901" y="325882"/>
                    <a:pt x="165354" y="325882"/>
                  </a:cubicBezTo>
                  <a:cubicBezTo>
                    <a:pt x="233807" y="325882"/>
                    <a:pt x="292608" y="263398"/>
                    <a:pt x="292608" y="181991"/>
                  </a:cubicBezTo>
                  <a:cubicBezTo>
                    <a:pt x="292608" y="100584"/>
                    <a:pt x="233807" y="38100"/>
                    <a:pt x="165354" y="38100"/>
                  </a:cubicBezTo>
                  <a:lnTo>
                    <a:pt x="165354" y="19050"/>
                  </a:lnTo>
                  <a:lnTo>
                    <a:pt x="165354" y="38100"/>
                  </a:lnTo>
                  <a:cubicBezTo>
                    <a:pt x="96901" y="38100"/>
                    <a:pt x="38100" y="100584"/>
                    <a:pt x="38100" y="181991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</p:grpSp>
      <p:sp>
        <p:nvSpPr>
          <p:cNvPr name="AutoShape 15" id="15"/>
          <p:cNvSpPr/>
          <p:nvPr/>
        </p:nvSpPr>
        <p:spPr>
          <a:xfrm rot="2951510">
            <a:off x="15184934" y="678712"/>
            <a:ext cx="128608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2364800" y="8417080"/>
            <a:ext cx="2774028" cy="658896"/>
            <a:chOff x="0" y="0"/>
            <a:chExt cx="3698704" cy="8785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98621" cy="878586"/>
            </a:xfrm>
            <a:custGeom>
              <a:avLst/>
              <a:gdLst/>
              <a:ahLst/>
              <a:cxnLst/>
              <a:rect r="r" b="b" t="t" l="l"/>
              <a:pathLst>
                <a:path h="878586" w="3698621">
                  <a:moveTo>
                    <a:pt x="0" y="420243"/>
                  </a:moveTo>
                  <a:cubicBezTo>
                    <a:pt x="0" y="187833"/>
                    <a:pt x="192532" y="0"/>
                    <a:pt x="429387" y="0"/>
                  </a:cubicBezTo>
                  <a:lnTo>
                    <a:pt x="3269234" y="0"/>
                  </a:lnTo>
                  <a:lnTo>
                    <a:pt x="3269234" y="12700"/>
                  </a:lnTo>
                  <a:lnTo>
                    <a:pt x="3269234" y="0"/>
                  </a:lnTo>
                  <a:cubicBezTo>
                    <a:pt x="3506089" y="0"/>
                    <a:pt x="3698621" y="187833"/>
                    <a:pt x="3698621" y="420243"/>
                  </a:cubicBezTo>
                  <a:lnTo>
                    <a:pt x="3685921" y="420243"/>
                  </a:lnTo>
                  <a:lnTo>
                    <a:pt x="3698621" y="420243"/>
                  </a:lnTo>
                  <a:lnTo>
                    <a:pt x="3698621" y="458343"/>
                  </a:lnTo>
                  <a:lnTo>
                    <a:pt x="3685921" y="458343"/>
                  </a:lnTo>
                  <a:lnTo>
                    <a:pt x="3698621" y="458343"/>
                  </a:lnTo>
                  <a:cubicBezTo>
                    <a:pt x="3698621" y="690626"/>
                    <a:pt x="3506089" y="878586"/>
                    <a:pt x="3269234" y="878586"/>
                  </a:cubicBezTo>
                  <a:lnTo>
                    <a:pt x="3269234" y="865886"/>
                  </a:lnTo>
                  <a:lnTo>
                    <a:pt x="3269234" y="878586"/>
                  </a:lnTo>
                  <a:lnTo>
                    <a:pt x="429387" y="878586"/>
                  </a:lnTo>
                  <a:lnTo>
                    <a:pt x="429387" y="865886"/>
                  </a:lnTo>
                  <a:lnTo>
                    <a:pt x="429387" y="878586"/>
                  </a:lnTo>
                  <a:cubicBezTo>
                    <a:pt x="192532" y="878586"/>
                    <a:pt x="0" y="690626"/>
                    <a:pt x="0" y="458343"/>
                  </a:cubicBezTo>
                  <a:lnTo>
                    <a:pt x="0" y="420243"/>
                  </a:lnTo>
                  <a:lnTo>
                    <a:pt x="12700" y="420243"/>
                  </a:lnTo>
                  <a:lnTo>
                    <a:pt x="0" y="420243"/>
                  </a:lnTo>
                  <a:moveTo>
                    <a:pt x="25400" y="420243"/>
                  </a:moveTo>
                  <a:lnTo>
                    <a:pt x="25400" y="458343"/>
                  </a:lnTo>
                  <a:lnTo>
                    <a:pt x="12700" y="458343"/>
                  </a:lnTo>
                  <a:lnTo>
                    <a:pt x="25400" y="458343"/>
                  </a:lnTo>
                  <a:cubicBezTo>
                    <a:pt x="25400" y="676148"/>
                    <a:pt x="205994" y="853186"/>
                    <a:pt x="429387" y="853186"/>
                  </a:cubicBezTo>
                  <a:lnTo>
                    <a:pt x="3269234" y="853186"/>
                  </a:lnTo>
                  <a:cubicBezTo>
                    <a:pt x="3492627" y="853186"/>
                    <a:pt x="3673221" y="676148"/>
                    <a:pt x="3673221" y="458343"/>
                  </a:cubicBezTo>
                  <a:lnTo>
                    <a:pt x="3673221" y="420243"/>
                  </a:lnTo>
                  <a:cubicBezTo>
                    <a:pt x="3673348" y="202438"/>
                    <a:pt x="3492627" y="25400"/>
                    <a:pt x="3269234" y="25400"/>
                  </a:cubicBezTo>
                  <a:lnTo>
                    <a:pt x="429387" y="25400"/>
                  </a:lnTo>
                  <a:lnTo>
                    <a:pt x="429387" y="12700"/>
                  </a:lnTo>
                  <a:lnTo>
                    <a:pt x="429387" y="25400"/>
                  </a:lnTo>
                  <a:cubicBezTo>
                    <a:pt x="205994" y="25400"/>
                    <a:pt x="25400" y="202438"/>
                    <a:pt x="25400" y="420243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698704" cy="88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SEE MORE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04846" y="2141696"/>
            <a:ext cx="9201373" cy="5324475"/>
            <a:chOff x="0" y="0"/>
            <a:chExt cx="12268497" cy="70993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0"/>
              <a:ext cx="12268497" cy="95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0"/>
                </a:lnSpc>
              </a:pPr>
              <a:r>
                <a:rPr lang="en-US" sz="47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Technical Skills Demonstrated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80602" y="1628775"/>
              <a:ext cx="10470922" cy="547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SELECT Statements</a:t>
              </a:r>
            </a:p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GROUP BY</a:t>
              </a:r>
            </a:p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ORDER BY</a:t>
              </a:r>
            </a:p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Aggregate Functions</a:t>
              </a:r>
            </a:p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CASE Statements</a:t>
              </a:r>
            </a:p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Joins</a:t>
              </a:r>
            </a:p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Subqueries</a:t>
              </a:r>
            </a:p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CTEs</a:t>
              </a:r>
            </a:p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Window Functions</a:t>
              </a:r>
            </a:p>
            <a:p>
              <a:pPr algn="just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Ranking Functions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0824" y="1327045"/>
            <a:ext cx="4459779" cy="7748931"/>
            <a:chOff x="0" y="0"/>
            <a:chExt cx="5946372" cy="1033190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946372" cy="5705300"/>
              <a:chOff x="0" y="0"/>
              <a:chExt cx="5946372" cy="57053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76200" y="76200"/>
                <a:ext cx="5793994" cy="5552948"/>
              </a:xfrm>
              <a:custGeom>
                <a:avLst/>
                <a:gdLst/>
                <a:ahLst/>
                <a:cxnLst/>
                <a:rect r="r" b="b" t="t" l="l"/>
                <a:pathLst>
                  <a:path h="5552948" w="5793994">
                    <a:moveTo>
                      <a:pt x="0" y="2776474"/>
                    </a:moveTo>
                    <a:cubicBezTo>
                      <a:pt x="0" y="1243076"/>
                      <a:pt x="1297051" y="0"/>
                      <a:pt x="2896997" y="0"/>
                    </a:cubicBezTo>
                    <a:cubicBezTo>
                      <a:pt x="4496943" y="0"/>
                      <a:pt x="5793994" y="1243076"/>
                      <a:pt x="5793994" y="2776474"/>
                    </a:cubicBezTo>
                    <a:cubicBezTo>
                      <a:pt x="5793994" y="4309872"/>
                      <a:pt x="4496943" y="5552948"/>
                      <a:pt x="2896997" y="5552948"/>
                    </a:cubicBezTo>
                    <a:cubicBezTo>
                      <a:pt x="1297051" y="5552948"/>
                      <a:pt x="0" y="4309872"/>
                      <a:pt x="0" y="2776474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70" r="0" b="-2170"/>
                </a:stretch>
              </a:blip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5946394" cy="5705348"/>
              </a:xfrm>
              <a:custGeom>
                <a:avLst/>
                <a:gdLst/>
                <a:ahLst/>
                <a:cxnLst/>
                <a:rect r="r" b="b" t="t" l="l"/>
                <a:pathLst>
                  <a:path h="5705348" w="5946394">
                    <a:moveTo>
                      <a:pt x="0" y="2852674"/>
                    </a:moveTo>
                    <a:cubicBezTo>
                      <a:pt x="0" y="1274191"/>
                      <a:pt x="1334262" y="0"/>
                      <a:pt x="2973197" y="0"/>
                    </a:cubicBezTo>
                    <a:lnTo>
                      <a:pt x="2973197" y="76200"/>
                    </a:lnTo>
                    <a:lnTo>
                      <a:pt x="2973197" y="0"/>
                    </a:lnTo>
                    <a:cubicBezTo>
                      <a:pt x="4612132" y="0"/>
                      <a:pt x="5946394" y="1274191"/>
                      <a:pt x="5946394" y="2852674"/>
                    </a:cubicBezTo>
                    <a:lnTo>
                      <a:pt x="5870194" y="2852674"/>
                    </a:lnTo>
                    <a:lnTo>
                      <a:pt x="5946394" y="2852674"/>
                    </a:lnTo>
                    <a:cubicBezTo>
                      <a:pt x="5946394" y="4431157"/>
                      <a:pt x="4612132" y="5705348"/>
                      <a:pt x="2973197" y="5705348"/>
                    </a:cubicBezTo>
                    <a:lnTo>
                      <a:pt x="2973197" y="5629148"/>
                    </a:lnTo>
                    <a:lnTo>
                      <a:pt x="2973197" y="5705348"/>
                    </a:lnTo>
                    <a:cubicBezTo>
                      <a:pt x="1334262" y="5705348"/>
                      <a:pt x="0" y="4431157"/>
                      <a:pt x="0" y="2852674"/>
                    </a:cubicBezTo>
                    <a:lnTo>
                      <a:pt x="76200" y="2852674"/>
                    </a:lnTo>
                    <a:lnTo>
                      <a:pt x="152400" y="2852674"/>
                    </a:lnTo>
                    <a:lnTo>
                      <a:pt x="76200" y="2852674"/>
                    </a:lnTo>
                    <a:lnTo>
                      <a:pt x="0" y="2852674"/>
                    </a:lnTo>
                    <a:moveTo>
                      <a:pt x="152400" y="2852674"/>
                    </a:moveTo>
                    <a:cubicBezTo>
                      <a:pt x="152400" y="2894711"/>
                      <a:pt x="118237" y="2928874"/>
                      <a:pt x="76200" y="2928874"/>
                    </a:cubicBezTo>
                    <a:cubicBezTo>
                      <a:pt x="34163" y="2928874"/>
                      <a:pt x="0" y="2894711"/>
                      <a:pt x="0" y="2852674"/>
                    </a:cubicBezTo>
                    <a:cubicBezTo>
                      <a:pt x="0" y="2810637"/>
                      <a:pt x="34163" y="2776474"/>
                      <a:pt x="76200" y="2776474"/>
                    </a:cubicBezTo>
                    <a:cubicBezTo>
                      <a:pt x="118237" y="2776474"/>
                      <a:pt x="152400" y="2810637"/>
                      <a:pt x="152400" y="2852674"/>
                    </a:cubicBezTo>
                    <a:cubicBezTo>
                      <a:pt x="152400" y="4340987"/>
                      <a:pt x="1412240" y="5552948"/>
                      <a:pt x="2973197" y="5552948"/>
                    </a:cubicBezTo>
                    <a:cubicBezTo>
                      <a:pt x="4534154" y="5552948"/>
                      <a:pt x="5793994" y="4340987"/>
                      <a:pt x="5793994" y="2852674"/>
                    </a:cubicBezTo>
                    <a:cubicBezTo>
                      <a:pt x="5793994" y="1364361"/>
                      <a:pt x="4534154" y="152400"/>
                      <a:pt x="2973197" y="152400"/>
                    </a:cubicBezTo>
                    <a:lnTo>
                      <a:pt x="2973197" y="76200"/>
                    </a:lnTo>
                    <a:lnTo>
                      <a:pt x="2973197" y="152400"/>
                    </a:lnTo>
                    <a:cubicBezTo>
                      <a:pt x="1412240" y="152400"/>
                      <a:pt x="152400" y="1364361"/>
                      <a:pt x="152400" y="2852674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578342" y="7956024"/>
              <a:ext cx="2605426" cy="777528"/>
              <a:chOff x="0" y="0"/>
              <a:chExt cx="2605426" cy="77752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605405" cy="777621"/>
              </a:xfrm>
              <a:custGeom>
                <a:avLst/>
                <a:gdLst/>
                <a:ahLst/>
                <a:cxnLst/>
                <a:rect r="r" b="b" t="t" l="l"/>
                <a:pathLst>
                  <a:path h="777621" w="2605405">
                    <a:moveTo>
                      <a:pt x="0" y="371983"/>
                    </a:moveTo>
                    <a:cubicBezTo>
                      <a:pt x="0" y="166243"/>
                      <a:pt x="170561" y="0"/>
                      <a:pt x="380492" y="0"/>
                    </a:cubicBezTo>
                    <a:lnTo>
                      <a:pt x="2224913" y="0"/>
                    </a:lnTo>
                    <a:lnTo>
                      <a:pt x="2224913" y="12700"/>
                    </a:lnTo>
                    <a:lnTo>
                      <a:pt x="2224913" y="0"/>
                    </a:lnTo>
                    <a:cubicBezTo>
                      <a:pt x="2434717" y="0"/>
                      <a:pt x="2605405" y="166243"/>
                      <a:pt x="2605405" y="371983"/>
                    </a:cubicBezTo>
                    <a:lnTo>
                      <a:pt x="2592705" y="371983"/>
                    </a:lnTo>
                    <a:lnTo>
                      <a:pt x="2605405" y="371983"/>
                    </a:lnTo>
                    <a:lnTo>
                      <a:pt x="2605405" y="405638"/>
                    </a:lnTo>
                    <a:lnTo>
                      <a:pt x="2592705" y="405638"/>
                    </a:lnTo>
                    <a:lnTo>
                      <a:pt x="2605405" y="405638"/>
                    </a:lnTo>
                    <a:cubicBezTo>
                      <a:pt x="2605405" y="611378"/>
                      <a:pt x="2434844" y="777621"/>
                      <a:pt x="2224913" y="777621"/>
                    </a:cubicBezTo>
                    <a:lnTo>
                      <a:pt x="2224913" y="764921"/>
                    </a:lnTo>
                    <a:lnTo>
                      <a:pt x="2224913" y="777621"/>
                    </a:lnTo>
                    <a:lnTo>
                      <a:pt x="380492" y="777621"/>
                    </a:lnTo>
                    <a:lnTo>
                      <a:pt x="380492" y="764921"/>
                    </a:lnTo>
                    <a:lnTo>
                      <a:pt x="380492" y="777621"/>
                    </a:lnTo>
                    <a:cubicBezTo>
                      <a:pt x="170561" y="777494"/>
                      <a:pt x="0" y="611251"/>
                      <a:pt x="0" y="405638"/>
                    </a:cubicBezTo>
                    <a:lnTo>
                      <a:pt x="0" y="371983"/>
                    </a:lnTo>
                    <a:lnTo>
                      <a:pt x="12700" y="371983"/>
                    </a:lnTo>
                    <a:lnTo>
                      <a:pt x="0" y="371983"/>
                    </a:lnTo>
                    <a:moveTo>
                      <a:pt x="25400" y="371983"/>
                    </a:moveTo>
                    <a:lnTo>
                      <a:pt x="25400" y="405638"/>
                    </a:lnTo>
                    <a:lnTo>
                      <a:pt x="12700" y="405638"/>
                    </a:lnTo>
                    <a:lnTo>
                      <a:pt x="25400" y="405638"/>
                    </a:lnTo>
                    <a:cubicBezTo>
                      <a:pt x="25400" y="596646"/>
                      <a:pt x="184023" y="752094"/>
                      <a:pt x="380492" y="752094"/>
                    </a:cubicBezTo>
                    <a:lnTo>
                      <a:pt x="2224913" y="752094"/>
                    </a:lnTo>
                    <a:cubicBezTo>
                      <a:pt x="2421255" y="752094"/>
                      <a:pt x="2580005" y="596646"/>
                      <a:pt x="2580005" y="405511"/>
                    </a:cubicBezTo>
                    <a:lnTo>
                      <a:pt x="2580005" y="371983"/>
                    </a:lnTo>
                    <a:cubicBezTo>
                      <a:pt x="2580005" y="180848"/>
                      <a:pt x="2421382" y="25400"/>
                      <a:pt x="2224913" y="25400"/>
                    </a:cubicBezTo>
                    <a:lnTo>
                      <a:pt x="380492" y="25400"/>
                    </a:lnTo>
                    <a:lnTo>
                      <a:pt x="380492" y="12700"/>
                    </a:lnTo>
                    <a:lnTo>
                      <a:pt x="380492" y="25400"/>
                    </a:lnTo>
                    <a:cubicBezTo>
                      <a:pt x="184023" y="25400"/>
                      <a:pt x="25400" y="180848"/>
                      <a:pt x="25400" y="371983"/>
                    </a:cubicBezTo>
                    <a:close/>
                  </a:path>
                </a:pathLst>
              </a:custGeom>
              <a:solidFill>
                <a:srgbClr val="80808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2605426" cy="777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FOLLOW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35812" y="9462420"/>
              <a:ext cx="3793404" cy="869488"/>
              <a:chOff x="0" y="0"/>
              <a:chExt cx="3793404" cy="86948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793363" cy="869442"/>
              </a:xfrm>
              <a:custGeom>
                <a:avLst/>
                <a:gdLst/>
                <a:ahLst/>
                <a:cxnLst/>
                <a:rect r="r" b="b" t="t" l="l"/>
                <a:pathLst>
                  <a:path h="869442" w="3793363">
                    <a:moveTo>
                      <a:pt x="0" y="415290"/>
                    </a:moveTo>
                    <a:cubicBezTo>
                      <a:pt x="0" y="185928"/>
                      <a:pt x="185928" y="0"/>
                      <a:pt x="415290" y="0"/>
                    </a:cubicBezTo>
                    <a:lnTo>
                      <a:pt x="3378073" y="0"/>
                    </a:lnTo>
                    <a:cubicBezTo>
                      <a:pt x="3607435" y="0"/>
                      <a:pt x="3793363" y="185928"/>
                      <a:pt x="3793363" y="415290"/>
                    </a:cubicBezTo>
                    <a:lnTo>
                      <a:pt x="3793363" y="454152"/>
                    </a:lnTo>
                    <a:cubicBezTo>
                      <a:pt x="3793363" y="683514"/>
                      <a:pt x="3607435" y="869442"/>
                      <a:pt x="3378073" y="869442"/>
                    </a:cubicBezTo>
                    <a:lnTo>
                      <a:pt x="415290" y="869442"/>
                    </a:lnTo>
                    <a:cubicBezTo>
                      <a:pt x="185928" y="869442"/>
                      <a:pt x="0" y="683514"/>
                      <a:pt x="0" y="454152"/>
                    </a:cubicBezTo>
                    <a:close/>
                  </a:path>
                </a:pathLst>
              </a:custGeom>
              <a:solidFill>
                <a:srgbClr val="1ED76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9525"/>
                <a:ext cx="3793404" cy="859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SHUFFLE PLAY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996974" y="6004534"/>
              <a:ext cx="2689843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0"/>
                </a:lnSpc>
              </a:pPr>
              <a:r>
                <a:rPr lang="en-US" sz="29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Yawar Ali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256104" y="7189559"/>
              <a:ext cx="1952424" cy="545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D760"/>
                  </a:solidFill>
                  <a:latin typeface="Open Sans"/>
                  <a:ea typeface="Open Sans"/>
                  <a:cs typeface="Open Sans"/>
                  <a:sym typeface="Open Sans"/>
                </a:rPr>
                <a:t>Leader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97669" y="7620401"/>
            <a:ext cx="5616689" cy="2135128"/>
          </a:xfrm>
          <a:custGeom>
            <a:avLst/>
            <a:gdLst/>
            <a:ahLst/>
            <a:cxnLst/>
            <a:rect r="r" b="b" t="t" l="l"/>
            <a:pathLst>
              <a:path h="2135128" w="5616689">
                <a:moveTo>
                  <a:pt x="0" y="0"/>
                </a:moveTo>
                <a:lnTo>
                  <a:pt x="5616689" y="0"/>
                </a:lnTo>
                <a:lnTo>
                  <a:pt x="5616689" y="2135128"/>
                </a:lnTo>
                <a:lnTo>
                  <a:pt x="0" y="2135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39" t="-27686" r="-4301" b="-144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521" y="2210861"/>
            <a:ext cx="9012658" cy="1462895"/>
          </a:xfrm>
          <a:custGeom>
            <a:avLst/>
            <a:gdLst/>
            <a:ahLst/>
            <a:cxnLst/>
            <a:rect r="r" b="b" t="t" l="l"/>
            <a:pathLst>
              <a:path h="1462895" w="9012658">
                <a:moveTo>
                  <a:pt x="0" y="0"/>
                </a:moveTo>
                <a:lnTo>
                  <a:pt x="9012658" y="0"/>
                </a:lnTo>
                <a:lnTo>
                  <a:pt x="9012658" y="1462895"/>
                </a:lnTo>
                <a:lnTo>
                  <a:pt x="0" y="1462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0" t="0" r="-203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5521" y="4011747"/>
            <a:ext cx="9012658" cy="2034217"/>
          </a:xfrm>
          <a:custGeom>
            <a:avLst/>
            <a:gdLst/>
            <a:ahLst/>
            <a:cxnLst/>
            <a:rect r="r" b="b" t="t" l="l"/>
            <a:pathLst>
              <a:path h="2034217" w="9012658">
                <a:moveTo>
                  <a:pt x="0" y="0"/>
                </a:moveTo>
                <a:lnTo>
                  <a:pt x="9012658" y="0"/>
                </a:lnTo>
                <a:lnTo>
                  <a:pt x="9012658" y="2034218"/>
                </a:lnTo>
                <a:lnTo>
                  <a:pt x="0" y="2034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2" t="0" r="-71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5521" y="6379340"/>
            <a:ext cx="9012658" cy="1717312"/>
          </a:xfrm>
          <a:custGeom>
            <a:avLst/>
            <a:gdLst/>
            <a:ahLst/>
            <a:cxnLst/>
            <a:rect r="r" b="b" t="t" l="l"/>
            <a:pathLst>
              <a:path h="1717312" w="9012658">
                <a:moveTo>
                  <a:pt x="0" y="0"/>
                </a:moveTo>
                <a:lnTo>
                  <a:pt x="9012658" y="0"/>
                </a:lnTo>
                <a:lnTo>
                  <a:pt x="9012658" y="1717311"/>
                </a:lnTo>
                <a:lnTo>
                  <a:pt x="0" y="17173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55708" y="2739886"/>
            <a:ext cx="7316771" cy="1591222"/>
          </a:xfrm>
          <a:custGeom>
            <a:avLst/>
            <a:gdLst/>
            <a:ahLst/>
            <a:cxnLst/>
            <a:rect r="r" b="b" t="t" l="l"/>
            <a:pathLst>
              <a:path h="1591222" w="7316771">
                <a:moveTo>
                  <a:pt x="0" y="0"/>
                </a:moveTo>
                <a:lnTo>
                  <a:pt x="7316771" y="0"/>
                </a:lnTo>
                <a:lnTo>
                  <a:pt x="7316771" y="1591222"/>
                </a:lnTo>
                <a:lnTo>
                  <a:pt x="0" y="15912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145" r="0" b="-314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55708" y="4915833"/>
            <a:ext cx="7316771" cy="1845913"/>
          </a:xfrm>
          <a:custGeom>
            <a:avLst/>
            <a:gdLst/>
            <a:ahLst/>
            <a:cxnLst/>
            <a:rect r="r" b="b" t="t" l="l"/>
            <a:pathLst>
              <a:path h="1845913" w="7316771">
                <a:moveTo>
                  <a:pt x="0" y="0"/>
                </a:moveTo>
                <a:lnTo>
                  <a:pt x="7316771" y="0"/>
                </a:lnTo>
                <a:lnTo>
                  <a:pt x="7316771" y="1845913"/>
                </a:lnTo>
                <a:lnTo>
                  <a:pt x="0" y="18459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95780" y="267282"/>
            <a:ext cx="14296440" cy="1522836"/>
            <a:chOff x="0" y="0"/>
            <a:chExt cx="19061919" cy="20304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5891085" y="0"/>
              <a:ext cx="2017757" cy="2030447"/>
            </a:xfrm>
            <a:custGeom>
              <a:avLst/>
              <a:gdLst/>
              <a:ahLst/>
              <a:cxnLst/>
              <a:rect r="r" b="b" t="t" l="l"/>
              <a:pathLst>
                <a:path h="2030447" w="2017757">
                  <a:moveTo>
                    <a:pt x="0" y="0"/>
                  </a:moveTo>
                  <a:lnTo>
                    <a:pt x="2017757" y="0"/>
                  </a:lnTo>
                  <a:lnTo>
                    <a:pt x="2017757" y="2030447"/>
                  </a:lnTo>
                  <a:lnTo>
                    <a:pt x="0" y="203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318139"/>
              <a:ext cx="19061919" cy="115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en-US" sz="5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Streaming Performance Analytics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06196" y="267282"/>
            <a:ext cx="1245008" cy="1245008"/>
          </a:xfrm>
          <a:custGeom>
            <a:avLst/>
            <a:gdLst/>
            <a:ahLst/>
            <a:cxnLst/>
            <a:rect r="r" b="b" t="t" l="l"/>
            <a:pathLst>
              <a:path h="1245008" w="1245008">
                <a:moveTo>
                  <a:pt x="0" y="0"/>
                </a:moveTo>
                <a:lnTo>
                  <a:pt x="1245008" y="0"/>
                </a:lnTo>
                <a:lnTo>
                  <a:pt x="1245008" y="1245009"/>
                </a:lnTo>
                <a:lnTo>
                  <a:pt x="0" y="12450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1642" y="1494502"/>
            <a:ext cx="7468360" cy="2501597"/>
          </a:xfrm>
          <a:custGeom>
            <a:avLst/>
            <a:gdLst/>
            <a:ahLst/>
            <a:cxnLst/>
            <a:rect r="r" b="b" t="t" l="l"/>
            <a:pathLst>
              <a:path h="2501597" w="7468360">
                <a:moveTo>
                  <a:pt x="0" y="0"/>
                </a:moveTo>
                <a:lnTo>
                  <a:pt x="7468360" y="0"/>
                </a:lnTo>
                <a:lnTo>
                  <a:pt x="7468360" y="2501597"/>
                </a:lnTo>
                <a:lnTo>
                  <a:pt x="0" y="2501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9601" y="7349361"/>
            <a:ext cx="5500105" cy="2677209"/>
          </a:xfrm>
          <a:custGeom>
            <a:avLst/>
            <a:gdLst/>
            <a:ahLst/>
            <a:cxnLst/>
            <a:rect r="r" b="b" t="t" l="l"/>
            <a:pathLst>
              <a:path h="2677209" w="5500105">
                <a:moveTo>
                  <a:pt x="0" y="0"/>
                </a:moveTo>
                <a:lnTo>
                  <a:pt x="5500105" y="0"/>
                </a:lnTo>
                <a:lnTo>
                  <a:pt x="5500105" y="2677209"/>
                </a:lnTo>
                <a:lnTo>
                  <a:pt x="0" y="267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37" r="0" b="-73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38899" y="1909299"/>
            <a:ext cx="6932988" cy="3814465"/>
          </a:xfrm>
          <a:custGeom>
            <a:avLst/>
            <a:gdLst/>
            <a:ahLst/>
            <a:cxnLst/>
            <a:rect r="r" b="b" t="t" l="l"/>
            <a:pathLst>
              <a:path h="3814465" w="6932988">
                <a:moveTo>
                  <a:pt x="0" y="0"/>
                </a:moveTo>
                <a:lnTo>
                  <a:pt x="6932988" y="0"/>
                </a:lnTo>
                <a:lnTo>
                  <a:pt x="6932988" y="3814465"/>
                </a:lnTo>
                <a:lnTo>
                  <a:pt x="0" y="38144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38899" y="6000851"/>
            <a:ext cx="6932988" cy="1576569"/>
          </a:xfrm>
          <a:custGeom>
            <a:avLst/>
            <a:gdLst/>
            <a:ahLst/>
            <a:cxnLst/>
            <a:rect r="r" b="b" t="t" l="l"/>
            <a:pathLst>
              <a:path h="1576569" w="6932988">
                <a:moveTo>
                  <a:pt x="0" y="0"/>
                </a:moveTo>
                <a:lnTo>
                  <a:pt x="6932988" y="0"/>
                </a:lnTo>
                <a:lnTo>
                  <a:pt x="6932988" y="1576569"/>
                </a:lnTo>
                <a:lnTo>
                  <a:pt x="0" y="15765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9601" y="4268667"/>
            <a:ext cx="7420401" cy="2893956"/>
          </a:xfrm>
          <a:custGeom>
            <a:avLst/>
            <a:gdLst/>
            <a:ahLst/>
            <a:cxnLst/>
            <a:rect r="r" b="b" t="t" l="l"/>
            <a:pathLst>
              <a:path h="2893956" w="7420401">
                <a:moveTo>
                  <a:pt x="0" y="0"/>
                </a:moveTo>
                <a:lnTo>
                  <a:pt x="7420401" y="0"/>
                </a:lnTo>
                <a:lnTo>
                  <a:pt x="7420401" y="2893956"/>
                </a:lnTo>
                <a:lnTo>
                  <a:pt x="0" y="28939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7669" y="7620401"/>
            <a:ext cx="5616689" cy="2135128"/>
          </a:xfrm>
          <a:custGeom>
            <a:avLst/>
            <a:gdLst/>
            <a:ahLst/>
            <a:cxnLst/>
            <a:rect r="r" b="b" t="t" l="l"/>
            <a:pathLst>
              <a:path h="2135128" w="5616689">
                <a:moveTo>
                  <a:pt x="0" y="0"/>
                </a:moveTo>
                <a:lnTo>
                  <a:pt x="5616689" y="0"/>
                </a:lnTo>
                <a:lnTo>
                  <a:pt x="5616689" y="2135128"/>
                </a:lnTo>
                <a:lnTo>
                  <a:pt x="0" y="21351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939" t="-27686" r="-4301" b="-14433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95780" y="267282"/>
            <a:ext cx="14296440" cy="1522836"/>
            <a:chOff x="0" y="0"/>
            <a:chExt cx="19061919" cy="20304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5891085" y="0"/>
              <a:ext cx="2017757" cy="2030447"/>
            </a:xfrm>
            <a:custGeom>
              <a:avLst/>
              <a:gdLst/>
              <a:ahLst/>
              <a:cxnLst/>
              <a:rect r="r" b="b" t="t" l="l"/>
              <a:pathLst>
                <a:path h="2030447" w="2017757">
                  <a:moveTo>
                    <a:pt x="0" y="0"/>
                  </a:moveTo>
                  <a:lnTo>
                    <a:pt x="2017757" y="0"/>
                  </a:lnTo>
                  <a:lnTo>
                    <a:pt x="2017757" y="2030447"/>
                  </a:lnTo>
                  <a:lnTo>
                    <a:pt x="0" y="203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318139"/>
              <a:ext cx="19061919" cy="115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en-US" sz="5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Engagement &amp; Trend Analytics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82249" y="251197"/>
            <a:ext cx="1052805" cy="1052805"/>
          </a:xfrm>
          <a:custGeom>
            <a:avLst/>
            <a:gdLst/>
            <a:ahLst/>
            <a:cxnLst/>
            <a:rect r="r" b="b" t="t" l="l"/>
            <a:pathLst>
              <a:path h="1052805" w="1052805">
                <a:moveTo>
                  <a:pt x="0" y="0"/>
                </a:moveTo>
                <a:lnTo>
                  <a:pt x="1052805" y="0"/>
                </a:lnTo>
                <a:lnTo>
                  <a:pt x="1052805" y="1052805"/>
                </a:lnTo>
                <a:lnTo>
                  <a:pt x="0" y="10528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2487" y="1402045"/>
            <a:ext cx="4478253" cy="3988630"/>
          </a:xfrm>
          <a:custGeom>
            <a:avLst/>
            <a:gdLst/>
            <a:ahLst/>
            <a:cxnLst/>
            <a:rect r="r" b="b" t="t" l="l"/>
            <a:pathLst>
              <a:path h="3988630" w="4478253">
                <a:moveTo>
                  <a:pt x="0" y="0"/>
                </a:moveTo>
                <a:lnTo>
                  <a:pt x="4478252" y="0"/>
                </a:lnTo>
                <a:lnTo>
                  <a:pt x="4478252" y="3988630"/>
                </a:lnTo>
                <a:lnTo>
                  <a:pt x="0" y="3988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3546" y="1889531"/>
            <a:ext cx="5711812" cy="2438419"/>
          </a:xfrm>
          <a:custGeom>
            <a:avLst/>
            <a:gdLst/>
            <a:ahLst/>
            <a:cxnLst/>
            <a:rect r="r" b="b" t="t" l="l"/>
            <a:pathLst>
              <a:path h="2438419" w="5711812">
                <a:moveTo>
                  <a:pt x="0" y="0"/>
                </a:moveTo>
                <a:lnTo>
                  <a:pt x="5711812" y="0"/>
                </a:lnTo>
                <a:lnTo>
                  <a:pt x="5711812" y="2438419"/>
                </a:lnTo>
                <a:lnTo>
                  <a:pt x="0" y="24384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2487" y="5650743"/>
            <a:ext cx="7392470" cy="2226982"/>
          </a:xfrm>
          <a:custGeom>
            <a:avLst/>
            <a:gdLst/>
            <a:ahLst/>
            <a:cxnLst/>
            <a:rect r="r" b="b" t="t" l="l"/>
            <a:pathLst>
              <a:path h="2226982" w="7392470">
                <a:moveTo>
                  <a:pt x="0" y="0"/>
                </a:moveTo>
                <a:lnTo>
                  <a:pt x="7392470" y="0"/>
                </a:lnTo>
                <a:lnTo>
                  <a:pt x="7392470" y="2226981"/>
                </a:lnTo>
                <a:lnTo>
                  <a:pt x="0" y="2226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1137" y="2598753"/>
            <a:ext cx="6415692" cy="2418578"/>
          </a:xfrm>
          <a:custGeom>
            <a:avLst/>
            <a:gdLst/>
            <a:ahLst/>
            <a:cxnLst/>
            <a:rect r="r" b="b" t="t" l="l"/>
            <a:pathLst>
              <a:path h="2418578" w="6415692">
                <a:moveTo>
                  <a:pt x="0" y="0"/>
                </a:moveTo>
                <a:lnTo>
                  <a:pt x="6415692" y="0"/>
                </a:lnTo>
                <a:lnTo>
                  <a:pt x="6415692" y="2418577"/>
                </a:lnTo>
                <a:lnTo>
                  <a:pt x="0" y="2418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2487" y="8152057"/>
            <a:ext cx="6556572" cy="1917797"/>
          </a:xfrm>
          <a:custGeom>
            <a:avLst/>
            <a:gdLst/>
            <a:ahLst/>
            <a:cxnLst/>
            <a:rect r="r" b="b" t="t" l="l"/>
            <a:pathLst>
              <a:path h="1917797" w="6556572">
                <a:moveTo>
                  <a:pt x="0" y="0"/>
                </a:moveTo>
                <a:lnTo>
                  <a:pt x="6556571" y="0"/>
                </a:lnTo>
                <a:lnTo>
                  <a:pt x="6556571" y="1917797"/>
                </a:lnTo>
                <a:lnTo>
                  <a:pt x="0" y="19177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98499" y="5390675"/>
            <a:ext cx="6998340" cy="1408416"/>
          </a:xfrm>
          <a:custGeom>
            <a:avLst/>
            <a:gdLst/>
            <a:ahLst/>
            <a:cxnLst/>
            <a:rect r="r" b="b" t="t" l="l"/>
            <a:pathLst>
              <a:path h="1408416" w="6998340">
                <a:moveTo>
                  <a:pt x="0" y="0"/>
                </a:moveTo>
                <a:lnTo>
                  <a:pt x="6998339" y="0"/>
                </a:lnTo>
                <a:lnTo>
                  <a:pt x="6998339" y="1408416"/>
                </a:lnTo>
                <a:lnTo>
                  <a:pt x="0" y="14084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97669" y="7620401"/>
            <a:ext cx="5616689" cy="2135128"/>
          </a:xfrm>
          <a:custGeom>
            <a:avLst/>
            <a:gdLst/>
            <a:ahLst/>
            <a:cxnLst/>
            <a:rect r="r" b="b" t="t" l="l"/>
            <a:pathLst>
              <a:path h="2135128" w="5616689">
                <a:moveTo>
                  <a:pt x="0" y="0"/>
                </a:moveTo>
                <a:lnTo>
                  <a:pt x="5616689" y="0"/>
                </a:lnTo>
                <a:lnTo>
                  <a:pt x="5616689" y="2135128"/>
                </a:lnTo>
                <a:lnTo>
                  <a:pt x="0" y="21351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939" t="-27686" r="-4301" b="-14433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995780" y="267282"/>
            <a:ext cx="14296440" cy="1522836"/>
            <a:chOff x="0" y="0"/>
            <a:chExt cx="19061919" cy="20304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5891085" y="0"/>
              <a:ext cx="2017757" cy="2030447"/>
            </a:xfrm>
            <a:custGeom>
              <a:avLst/>
              <a:gdLst/>
              <a:ahLst/>
              <a:cxnLst/>
              <a:rect r="r" b="b" t="t" l="l"/>
              <a:pathLst>
                <a:path h="2030447" w="2017757">
                  <a:moveTo>
                    <a:pt x="0" y="0"/>
                  </a:moveTo>
                  <a:lnTo>
                    <a:pt x="2017757" y="0"/>
                  </a:lnTo>
                  <a:lnTo>
                    <a:pt x="2017757" y="2030447"/>
                  </a:lnTo>
                  <a:lnTo>
                    <a:pt x="0" y="203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318139"/>
              <a:ext cx="19061919" cy="115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en-US" sz="5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Statistical &amp; Ranking Analytics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52487" y="267282"/>
            <a:ext cx="984675" cy="984675"/>
          </a:xfrm>
          <a:custGeom>
            <a:avLst/>
            <a:gdLst/>
            <a:ahLst/>
            <a:cxnLst/>
            <a:rect r="r" b="b" t="t" l="l"/>
            <a:pathLst>
              <a:path h="984675" w="984675">
                <a:moveTo>
                  <a:pt x="0" y="0"/>
                </a:moveTo>
                <a:lnTo>
                  <a:pt x="984674" y="0"/>
                </a:lnTo>
                <a:lnTo>
                  <a:pt x="984674" y="984675"/>
                </a:lnTo>
                <a:lnTo>
                  <a:pt x="0" y="9846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1480" y="412002"/>
            <a:ext cx="1397197" cy="1397197"/>
            <a:chOff x="0" y="0"/>
            <a:chExt cx="1862930" cy="1862930"/>
          </a:xfrm>
        </p:grpSpPr>
        <p:sp>
          <p:nvSpPr>
            <p:cNvPr name="Freeform 3" id="3" descr="Spotify Logo Png - Free Transparent PNG Logos"/>
            <p:cNvSpPr/>
            <p:nvPr/>
          </p:nvSpPr>
          <p:spPr>
            <a:xfrm flipH="false" flipV="false" rot="0">
              <a:off x="0" y="0"/>
              <a:ext cx="1862963" cy="1862963"/>
            </a:xfrm>
            <a:custGeom>
              <a:avLst/>
              <a:gdLst/>
              <a:ahLst/>
              <a:cxnLst/>
              <a:rect r="r" b="b" t="t" l="l"/>
              <a:pathLst>
                <a:path h="1862963" w="1862963">
                  <a:moveTo>
                    <a:pt x="0" y="0"/>
                  </a:moveTo>
                  <a:lnTo>
                    <a:pt x="1862963" y="0"/>
                  </a:lnTo>
                  <a:lnTo>
                    <a:pt x="1862963" y="1862963"/>
                  </a:lnTo>
                  <a:lnTo>
                    <a:pt x="0" y="1862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686192" y="8280159"/>
            <a:ext cx="2573108" cy="978141"/>
          </a:xfrm>
          <a:custGeom>
            <a:avLst/>
            <a:gdLst/>
            <a:ahLst/>
            <a:cxnLst/>
            <a:rect r="r" b="b" t="t" l="l"/>
            <a:pathLst>
              <a:path h="978141" w="2573108">
                <a:moveTo>
                  <a:pt x="0" y="0"/>
                </a:moveTo>
                <a:lnTo>
                  <a:pt x="2573108" y="0"/>
                </a:lnTo>
                <a:lnTo>
                  <a:pt x="2573108" y="978141"/>
                </a:lnTo>
                <a:lnTo>
                  <a:pt x="0" y="978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39" t="-27686" r="-4301" b="-1443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92959" y="3037652"/>
            <a:ext cx="17102082" cy="4779940"/>
            <a:chOff x="0" y="0"/>
            <a:chExt cx="22802776" cy="63732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6272"/>
              <a:ext cx="22777323" cy="6340718"/>
            </a:xfrm>
            <a:custGeom>
              <a:avLst/>
              <a:gdLst/>
              <a:ahLst/>
              <a:cxnLst/>
              <a:rect r="r" b="b" t="t" l="l"/>
              <a:pathLst>
                <a:path h="6340718" w="22777323">
                  <a:moveTo>
                    <a:pt x="0" y="139939"/>
                  </a:moveTo>
                  <a:cubicBezTo>
                    <a:pt x="0" y="62647"/>
                    <a:pt x="49149" y="0"/>
                    <a:pt x="109601" y="0"/>
                  </a:cubicBezTo>
                  <a:lnTo>
                    <a:pt x="22667722" y="0"/>
                  </a:lnTo>
                  <a:cubicBezTo>
                    <a:pt x="22728301" y="0"/>
                    <a:pt x="22777323" y="62647"/>
                    <a:pt x="22777323" y="139939"/>
                  </a:cubicBezTo>
                  <a:lnTo>
                    <a:pt x="22777323" y="6200779"/>
                  </a:lnTo>
                  <a:cubicBezTo>
                    <a:pt x="22777323" y="6278071"/>
                    <a:pt x="22728174" y="6340718"/>
                    <a:pt x="22667722" y="6340718"/>
                  </a:cubicBezTo>
                  <a:lnTo>
                    <a:pt x="109601" y="6340718"/>
                  </a:lnTo>
                  <a:cubicBezTo>
                    <a:pt x="49022" y="6340718"/>
                    <a:pt x="0" y="6278071"/>
                    <a:pt x="0" y="6200779"/>
                  </a:cubicBezTo>
                  <a:close/>
                </a:path>
              </a:pathLst>
            </a:custGeom>
            <a:solidFill>
              <a:srgbClr val="0D0D0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02723" cy="6373260"/>
            </a:xfrm>
            <a:custGeom>
              <a:avLst/>
              <a:gdLst/>
              <a:ahLst/>
              <a:cxnLst/>
              <a:rect r="r" b="b" t="t" l="l"/>
              <a:pathLst>
                <a:path h="6373260" w="22802723">
                  <a:moveTo>
                    <a:pt x="0" y="156211"/>
                  </a:moveTo>
                  <a:cubicBezTo>
                    <a:pt x="0" y="69807"/>
                    <a:pt x="54864" y="0"/>
                    <a:pt x="122301" y="0"/>
                  </a:cubicBezTo>
                  <a:lnTo>
                    <a:pt x="22680422" y="0"/>
                  </a:lnTo>
                  <a:lnTo>
                    <a:pt x="22680422" y="16272"/>
                  </a:lnTo>
                  <a:lnTo>
                    <a:pt x="22680422" y="0"/>
                  </a:lnTo>
                  <a:cubicBezTo>
                    <a:pt x="22747985" y="0"/>
                    <a:pt x="22802723" y="69807"/>
                    <a:pt x="22802723" y="156211"/>
                  </a:cubicBezTo>
                  <a:lnTo>
                    <a:pt x="22790023" y="156211"/>
                  </a:lnTo>
                  <a:lnTo>
                    <a:pt x="22802723" y="156211"/>
                  </a:lnTo>
                  <a:lnTo>
                    <a:pt x="22802723" y="6217051"/>
                  </a:lnTo>
                  <a:lnTo>
                    <a:pt x="22790023" y="6217051"/>
                  </a:lnTo>
                  <a:lnTo>
                    <a:pt x="22802723" y="6217051"/>
                  </a:lnTo>
                  <a:cubicBezTo>
                    <a:pt x="22802723" y="6303455"/>
                    <a:pt x="22747860" y="6373260"/>
                    <a:pt x="22680422" y="6373260"/>
                  </a:cubicBezTo>
                  <a:lnTo>
                    <a:pt x="22680422" y="6356990"/>
                  </a:lnTo>
                  <a:lnTo>
                    <a:pt x="22680422" y="6373260"/>
                  </a:lnTo>
                  <a:lnTo>
                    <a:pt x="122301" y="6373260"/>
                  </a:lnTo>
                  <a:lnTo>
                    <a:pt x="122301" y="6356990"/>
                  </a:lnTo>
                  <a:lnTo>
                    <a:pt x="122301" y="6373260"/>
                  </a:lnTo>
                  <a:cubicBezTo>
                    <a:pt x="54737" y="6373260"/>
                    <a:pt x="0" y="6303455"/>
                    <a:pt x="0" y="6217051"/>
                  </a:cubicBezTo>
                  <a:lnTo>
                    <a:pt x="0" y="156211"/>
                  </a:lnTo>
                  <a:lnTo>
                    <a:pt x="12700" y="156211"/>
                  </a:lnTo>
                  <a:lnTo>
                    <a:pt x="0" y="156211"/>
                  </a:lnTo>
                  <a:moveTo>
                    <a:pt x="25400" y="156211"/>
                  </a:moveTo>
                  <a:lnTo>
                    <a:pt x="25400" y="6217051"/>
                  </a:lnTo>
                  <a:lnTo>
                    <a:pt x="12700" y="6217051"/>
                  </a:lnTo>
                  <a:lnTo>
                    <a:pt x="25400" y="6217051"/>
                  </a:lnTo>
                  <a:cubicBezTo>
                    <a:pt x="25400" y="6285231"/>
                    <a:pt x="68707" y="6340718"/>
                    <a:pt x="122301" y="6340718"/>
                  </a:cubicBezTo>
                  <a:lnTo>
                    <a:pt x="22680422" y="6340718"/>
                  </a:lnTo>
                  <a:cubicBezTo>
                    <a:pt x="22734015" y="6340718"/>
                    <a:pt x="22777323" y="6285231"/>
                    <a:pt x="22777323" y="6217051"/>
                  </a:cubicBezTo>
                  <a:lnTo>
                    <a:pt x="22777323" y="156211"/>
                  </a:lnTo>
                  <a:cubicBezTo>
                    <a:pt x="22777323" y="88032"/>
                    <a:pt x="22734015" y="32544"/>
                    <a:pt x="22680422" y="32544"/>
                  </a:cubicBezTo>
                  <a:lnTo>
                    <a:pt x="122301" y="32544"/>
                  </a:lnTo>
                  <a:lnTo>
                    <a:pt x="122301" y="16272"/>
                  </a:lnTo>
                  <a:lnTo>
                    <a:pt x="122301" y="32544"/>
                  </a:lnTo>
                  <a:cubicBezTo>
                    <a:pt x="68707" y="32544"/>
                    <a:pt x="25400" y="88032"/>
                    <a:pt x="25400" y="156211"/>
                  </a:cubicBez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6808" y="3356007"/>
            <a:ext cx="15673739" cy="41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Tracks with higher energy and danceability showed stronger audience engagement and streaming performance.</a:t>
            </a:r>
          </a:p>
          <a:p>
            <a:pPr algn="just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Official videos significantly increased views, likes, and overall audience interaction across platforms.</a:t>
            </a:r>
          </a:p>
          <a:p>
            <a:pPr algn="just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Singles consistently outperformed other album types, indicating stronger listener attention and market reach.</a:t>
            </a:r>
          </a:p>
          <a:p>
            <a:pPr algn="just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A small number of top-performing tracks contributed heavily to overall artist visibility and platform engagement.</a:t>
            </a:r>
          </a:p>
          <a:p>
            <a:pPr algn="just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700">
                <a:solidFill>
                  <a:srgbClr val="1ED760"/>
                </a:solidFill>
                <a:latin typeface="Open Sans"/>
                <a:ea typeface="Open Sans"/>
                <a:cs typeface="Open Sans"/>
                <a:sym typeface="Open Sans"/>
              </a:rPr>
              <a:t>ross-platform analysis revealed that listener behavior differs between Spotify and YouTube consumption patterns.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2072" y="848545"/>
            <a:ext cx="1429644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Business Insights &amp; Learnings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43612" y="297702"/>
            <a:ext cx="3734713" cy="2394885"/>
          </a:xfrm>
          <a:custGeom>
            <a:avLst/>
            <a:gdLst/>
            <a:ahLst/>
            <a:cxnLst/>
            <a:rect r="r" b="b" t="t" l="l"/>
            <a:pathLst>
              <a:path h="2394885" w="3734713">
                <a:moveTo>
                  <a:pt x="0" y="0"/>
                </a:moveTo>
                <a:lnTo>
                  <a:pt x="3734713" y="0"/>
                </a:lnTo>
                <a:lnTo>
                  <a:pt x="3734713" y="2394885"/>
                </a:lnTo>
                <a:lnTo>
                  <a:pt x="0" y="23948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8707" y="7652712"/>
            <a:ext cx="8559141" cy="8039469"/>
            <a:chOff x="0" y="0"/>
            <a:chExt cx="11412188" cy="10719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12220" cy="10719308"/>
            </a:xfrm>
            <a:custGeom>
              <a:avLst/>
              <a:gdLst/>
              <a:ahLst/>
              <a:cxnLst/>
              <a:rect r="r" b="b" t="t" l="l"/>
              <a:pathLst>
                <a:path h="10719308" w="11412220">
                  <a:moveTo>
                    <a:pt x="0" y="5359654"/>
                  </a:moveTo>
                  <a:cubicBezTo>
                    <a:pt x="0" y="2399538"/>
                    <a:pt x="2554732" y="0"/>
                    <a:pt x="5706110" y="0"/>
                  </a:cubicBezTo>
                  <a:cubicBezTo>
                    <a:pt x="8857488" y="0"/>
                    <a:pt x="11412220" y="2399538"/>
                    <a:pt x="11412220" y="5359654"/>
                  </a:cubicBezTo>
                  <a:cubicBezTo>
                    <a:pt x="11412220" y="8319770"/>
                    <a:pt x="8857488" y="10719308"/>
                    <a:pt x="5706110" y="10719308"/>
                  </a:cubicBezTo>
                  <a:cubicBezTo>
                    <a:pt x="2554732" y="10719308"/>
                    <a:pt x="0" y="8319643"/>
                    <a:pt x="0" y="5359654"/>
                  </a:cubicBezTo>
                  <a:close/>
                  <a:moveTo>
                    <a:pt x="2056638" y="5359654"/>
                  </a:moveTo>
                  <a:cubicBezTo>
                    <a:pt x="2056638" y="7183882"/>
                    <a:pt x="3690620" y="8662670"/>
                    <a:pt x="5706110" y="8662670"/>
                  </a:cubicBezTo>
                  <a:cubicBezTo>
                    <a:pt x="7721600" y="8662670"/>
                    <a:pt x="9355582" y="7183882"/>
                    <a:pt x="9355582" y="5359654"/>
                  </a:cubicBezTo>
                  <a:cubicBezTo>
                    <a:pt x="9355582" y="3535426"/>
                    <a:pt x="7721600" y="2056638"/>
                    <a:pt x="5706110" y="2056638"/>
                  </a:cubicBezTo>
                  <a:cubicBezTo>
                    <a:pt x="3690620" y="2056638"/>
                    <a:pt x="2056638" y="3535426"/>
                    <a:pt x="2056638" y="5359654"/>
                  </a:cubicBezTo>
                  <a:close/>
                </a:path>
              </a:pathLst>
            </a:custGeom>
            <a:solidFill>
              <a:srgbClr val="1ED7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2598150"/>
            <a:ext cx="4543326" cy="4444131"/>
            <a:chOff x="0" y="0"/>
            <a:chExt cx="6057768" cy="59255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57773" cy="5925566"/>
            </a:xfrm>
            <a:custGeom>
              <a:avLst/>
              <a:gdLst/>
              <a:ahLst/>
              <a:cxnLst/>
              <a:rect r="r" b="b" t="t" l="l"/>
              <a:pathLst>
                <a:path h="5925566" w="6057773">
                  <a:moveTo>
                    <a:pt x="0" y="2962783"/>
                  </a:moveTo>
                  <a:cubicBezTo>
                    <a:pt x="0" y="1326515"/>
                    <a:pt x="1356106" y="0"/>
                    <a:pt x="3028823" y="0"/>
                  </a:cubicBezTo>
                  <a:cubicBezTo>
                    <a:pt x="4701540" y="0"/>
                    <a:pt x="6057773" y="1326515"/>
                    <a:pt x="6057773" y="2962783"/>
                  </a:cubicBezTo>
                  <a:cubicBezTo>
                    <a:pt x="6057773" y="4599051"/>
                    <a:pt x="4701667" y="5925566"/>
                    <a:pt x="3028823" y="5925566"/>
                  </a:cubicBezTo>
                  <a:cubicBezTo>
                    <a:pt x="1355979" y="5925566"/>
                    <a:pt x="0" y="4599051"/>
                    <a:pt x="0" y="2962783"/>
                  </a:cubicBezTo>
                  <a:close/>
                  <a:moveTo>
                    <a:pt x="1323086" y="2962783"/>
                  </a:moveTo>
                  <a:cubicBezTo>
                    <a:pt x="1323086" y="3868420"/>
                    <a:pt x="2086864" y="4602480"/>
                    <a:pt x="3028950" y="4602480"/>
                  </a:cubicBezTo>
                  <a:cubicBezTo>
                    <a:pt x="3971036" y="4602480"/>
                    <a:pt x="4734814" y="3868420"/>
                    <a:pt x="4734814" y="2962783"/>
                  </a:cubicBezTo>
                  <a:cubicBezTo>
                    <a:pt x="4734814" y="2057146"/>
                    <a:pt x="3971036" y="1323086"/>
                    <a:pt x="3028950" y="1323086"/>
                  </a:cubicBezTo>
                  <a:cubicBezTo>
                    <a:pt x="2086864" y="1323086"/>
                    <a:pt x="1323086" y="2057146"/>
                    <a:pt x="1323086" y="2962783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13357" y="6094786"/>
            <a:ext cx="6928084" cy="3897047"/>
          </a:xfrm>
          <a:custGeom>
            <a:avLst/>
            <a:gdLst/>
            <a:ahLst/>
            <a:cxnLst/>
            <a:rect r="r" b="b" t="t" l="l"/>
            <a:pathLst>
              <a:path h="3897047" w="6928084">
                <a:moveTo>
                  <a:pt x="0" y="0"/>
                </a:moveTo>
                <a:lnTo>
                  <a:pt x="6928084" y="0"/>
                </a:lnTo>
                <a:lnTo>
                  <a:pt x="6928084" y="3897048"/>
                </a:lnTo>
                <a:lnTo>
                  <a:pt x="0" y="3897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43326" y="3133725"/>
            <a:ext cx="13391426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Thanks for tuning in</a:t>
            </a: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Don’t forget to like and subscribe to our channel.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DAG6TA4Nyn0</dc:identifier>
  <dcterms:modified xsi:type="dcterms:W3CDTF">2011-08-01T06:04:30Z</dcterms:modified>
  <cp:revision>1</cp:revision>
  <dc:title>spotify-project-SQL</dc:title>
</cp:coreProperties>
</file>